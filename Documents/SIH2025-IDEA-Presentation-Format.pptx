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UwPiZjtANJ9yzwqgBRXDFBzJN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1F6D34-B142-0107-C1D9-F1C7862FAF1B}" v="3" dt="2025-09-06T17:15:01.791"/>
    <p1510:client id="{EB5D4613-B17C-49BF-8D81-F10666541855}" v="108" dt="2025-09-06T18:27:04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75" y="7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741F6D34-B142-0107-C1D9-F1C7862FAF1B}"/>
    <pc:docChg chg="modSld">
      <pc:chgData name="Guest User" userId="" providerId="Windows Live" clId="Web-{741F6D34-B142-0107-C1D9-F1C7862FAF1B}" dt="2025-09-06T17:14:58.088" v="1" actId="20577"/>
      <pc:docMkLst>
        <pc:docMk/>
      </pc:docMkLst>
      <pc:sldChg chg="modSp">
        <pc:chgData name="Guest User" userId="" providerId="Windows Live" clId="Web-{741F6D34-B142-0107-C1D9-F1C7862FAF1B}" dt="2025-09-06T17:14:58.088" v="1" actId="20577"/>
        <pc:sldMkLst>
          <pc:docMk/>
          <pc:sldMk cId="0" sldId="257"/>
        </pc:sldMkLst>
        <pc:spChg chg="mod">
          <ac:chgData name="Guest User" userId="" providerId="Windows Live" clId="Web-{741F6D34-B142-0107-C1D9-F1C7862FAF1B}" dt="2025-09-06T17:14:58.088" v="1" actId="20577"/>
          <ac:spMkLst>
            <pc:docMk/>
            <pc:sldMk cId="0" sldId="257"/>
            <ac:spMk id="101" creationId="{00000000-0000-0000-0000-000000000000}"/>
          </ac:spMkLst>
        </pc:spChg>
      </pc:sldChg>
    </pc:docChg>
  </pc:docChgLst>
  <pc:docChgLst>
    <pc:chgData name="ATHI ." userId="ebcd4abaf1cde84e" providerId="LiveId" clId="{5A62D4A1-E166-47D5-950C-F7A9F72F7C6D}"/>
    <pc:docChg chg="undo redo custSel modSld">
      <pc:chgData name="ATHI ." userId="ebcd4abaf1cde84e" providerId="LiveId" clId="{5A62D4A1-E166-47D5-950C-F7A9F72F7C6D}" dt="2025-09-06T18:29:03.069" v="111" actId="14734"/>
      <pc:docMkLst>
        <pc:docMk/>
      </pc:docMkLst>
      <pc:sldChg chg="modSp mod">
        <pc:chgData name="ATHI ." userId="ebcd4abaf1cde84e" providerId="LiveId" clId="{5A62D4A1-E166-47D5-950C-F7A9F72F7C6D}" dt="2025-09-06T18:27:15.175" v="103" actId="403"/>
        <pc:sldMkLst>
          <pc:docMk/>
          <pc:sldMk cId="0" sldId="256"/>
        </pc:sldMkLst>
        <pc:spChg chg="mod">
          <ac:chgData name="ATHI ." userId="ebcd4abaf1cde84e" providerId="LiveId" clId="{5A62D4A1-E166-47D5-950C-F7A9F72F7C6D}" dt="2025-09-06T17:24:49.630" v="19" actId="404"/>
          <ac:spMkLst>
            <pc:docMk/>
            <pc:sldMk cId="0" sldId="256"/>
            <ac:spMk id="91" creationId="{00000000-0000-0000-0000-000000000000}"/>
          </ac:spMkLst>
        </pc:spChg>
        <pc:spChg chg="mod">
          <ac:chgData name="ATHI ." userId="ebcd4abaf1cde84e" providerId="LiveId" clId="{5A62D4A1-E166-47D5-950C-F7A9F72F7C6D}" dt="2025-09-06T18:27:15.175" v="103" actId="403"/>
          <ac:spMkLst>
            <pc:docMk/>
            <pc:sldMk cId="0" sldId="256"/>
            <ac:spMk id="93" creationId="{00000000-0000-0000-0000-000000000000}"/>
          </ac:spMkLst>
        </pc:spChg>
      </pc:sldChg>
      <pc:sldChg chg="modSp mod">
        <pc:chgData name="ATHI ." userId="ebcd4abaf1cde84e" providerId="LiveId" clId="{5A62D4A1-E166-47D5-950C-F7A9F72F7C6D}" dt="2025-09-06T18:29:03.069" v="111" actId="14734"/>
        <pc:sldMkLst>
          <pc:docMk/>
          <pc:sldMk cId="0" sldId="258"/>
        </pc:sldMkLst>
        <pc:spChg chg="mod">
          <ac:chgData name="ATHI ." userId="ebcd4abaf1cde84e" providerId="LiveId" clId="{5A62D4A1-E166-47D5-950C-F7A9F72F7C6D}" dt="2025-09-06T17:40:35.868" v="97" actId="1076"/>
          <ac:spMkLst>
            <pc:docMk/>
            <pc:sldMk cId="0" sldId="258"/>
            <ac:spMk id="24" creationId="{504B6285-F4B0-A0BC-439E-556CC6985F98}"/>
          </ac:spMkLst>
        </pc:spChg>
        <pc:spChg chg="mod">
          <ac:chgData name="ATHI ." userId="ebcd4abaf1cde84e" providerId="LiveId" clId="{5A62D4A1-E166-47D5-950C-F7A9F72F7C6D}" dt="2025-09-06T17:40:17.250" v="96" actId="1076"/>
          <ac:spMkLst>
            <pc:docMk/>
            <pc:sldMk cId="0" sldId="258"/>
            <ac:spMk id="25" creationId="{ABA1B2EF-A644-2AEF-7454-07EB49B2571D}"/>
          </ac:spMkLst>
        </pc:spChg>
        <pc:graphicFrameChg chg="modGraphic">
          <ac:chgData name="ATHI ." userId="ebcd4abaf1cde84e" providerId="LiveId" clId="{5A62D4A1-E166-47D5-950C-F7A9F72F7C6D}" dt="2025-09-06T18:29:03.069" v="111" actId="14734"/>
          <ac:graphicFrameMkLst>
            <pc:docMk/>
            <pc:sldMk cId="0" sldId="258"/>
            <ac:graphicFrameMk id="2" creationId="{481ADBE1-4739-80E8-4953-F57CFB9D0461}"/>
          </ac:graphicFrameMkLst>
        </pc:graphicFrameChg>
      </pc:sldChg>
      <pc:sldChg chg="modSp mod">
        <pc:chgData name="ATHI ." userId="ebcd4abaf1cde84e" providerId="LiveId" clId="{5A62D4A1-E166-47D5-950C-F7A9F72F7C6D}" dt="2025-09-06T17:27:03.902" v="95" actId="115"/>
        <pc:sldMkLst>
          <pc:docMk/>
          <pc:sldMk cId="0" sldId="260"/>
        </pc:sldMkLst>
        <pc:spChg chg="mod">
          <ac:chgData name="ATHI ." userId="ebcd4abaf1cde84e" providerId="LiveId" clId="{5A62D4A1-E166-47D5-950C-F7A9F72F7C6D}" dt="2025-09-06T17:27:03.902" v="95" actId="115"/>
          <ac:spMkLst>
            <pc:docMk/>
            <pc:sldMk cId="0" sldId="260"/>
            <ac:spMk id="3" creationId="{BBA96BCA-0CE7-8A2C-CED8-9508A9EE162C}"/>
          </ac:spMkLst>
        </pc:spChg>
      </pc:sldChg>
      <pc:sldChg chg="modSp mod">
        <pc:chgData name="ATHI ." userId="ebcd4abaf1cde84e" providerId="LiveId" clId="{5A62D4A1-E166-47D5-950C-F7A9F72F7C6D}" dt="2025-09-06T17:26:28.534" v="90" actId="20577"/>
        <pc:sldMkLst>
          <pc:docMk/>
          <pc:sldMk cId="0" sldId="261"/>
        </pc:sldMkLst>
        <pc:spChg chg="mod">
          <ac:chgData name="ATHI ." userId="ebcd4abaf1cde84e" providerId="LiveId" clId="{5A62D4A1-E166-47D5-950C-F7A9F72F7C6D}" dt="2025-09-06T17:26:28.534" v="90" actId="20577"/>
          <ac:spMkLst>
            <pc:docMk/>
            <pc:sldMk cId="0" sldId="261"/>
            <ac:spMk id="3" creationId="{54B22997-9F92-B157-F5CB-6E9BD6B91B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553395" y="1566858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846977" y="2627986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32104" y="437693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Clr>
                <a:schemeClr val="dk1"/>
              </a:buClr>
            </a:pPr>
            <a:r>
              <a:rPr lang="en-IN" dirty="0"/>
              <a:t>🔗 </a:t>
            </a:r>
            <a:r>
              <a:rPr lang="en-US" dirty="0"/>
              <a:t>Blockchain-Based Blue Carbon Registry and MRV    	System   </a:t>
            </a:r>
            <a:r>
              <a:rPr lang="en-IN" b="1" dirty="0"/>
              <a:t>🌱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5" y="2076450"/>
            <a:ext cx="8149523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Problem Statement ID    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  25038.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 Problem Statement Title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–   Blockchain-Based Blue Carbon Registry and          			           MRV System.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Theme                                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–  </a:t>
            </a:r>
            <a:r>
              <a:rPr lang="en-IN" sz="1800" dirty="0"/>
              <a:t>Clean &amp; Green Technology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   PS Category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                      –   Software.</a:t>
            </a:r>
          </a:p>
          <a:p>
            <a:pPr marL="285750" lvl="1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dirty="0"/>
              <a:t>Team Name                        </a:t>
            </a:r>
            <a:r>
              <a:rPr lang="en-IN" sz="1800" dirty="0"/>
              <a:t> –   HEXA VISION </a:t>
            </a:r>
            <a:endParaRPr lang="en-IN" sz="1800" b="1" dirty="0"/>
          </a:p>
        </p:txBody>
      </p:sp>
      <p:pic>
        <p:nvPicPr>
          <p:cNvPr id="94" name="Google Shape;94;p1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393370" y="-221302"/>
            <a:ext cx="8259736" cy="112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/>
              <a:t>Blockchain-Based Blue Carbon Registry &amp; MRV Platform</a:t>
            </a:r>
            <a:endParaRPr lang="en-IN" sz="2800"/>
          </a:p>
        </p:txBody>
      </p:sp>
      <p:sp>
        <p:nvSpPr>
          <p:cNvPr id="102" name="Google Shape;102;p2"/>
          <p:cNvSpPr txBox="1"/>
          <p:nvPr/>
        </p:nvSpPr>
        <p:spPr>
          <a:xfrm>
            <a:off x="0" y="816960"/>
            <a:ext cx="12419763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IN" sz="2400" dirty="0"/>
              <a:t> </a:t>
            </a:r>
            <a:r>
              <a:rPr lang="en-IN" sz="2400" b="1" dirty="0">
                <a:solidFill>
                  <a:schemeClr val="bg2"/>
                </a:solidFill>
              </a:rPr>
              <a:t>Problems :</a:t>
            </a:r>
            <a:endParaRPr lang="en-US" sz="2400" b="1" u="sng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15900">
              <a:buClr>
                <a:schemeClr val="dk1"/>
              </a:buClr>
              <a:buSzPts val="2000"/>
            </a:pPr>
            <a:r>
              <a:rPr lang="en-US" sz="1600" b="1" dirty="0"/>
              <a:t>    </a:t>
            </a:r>
            <a:r>
              <a:rPr lang="en-US" sz="1800" b="1" dirty="0"/>
              <a:t>⚠️ Lack of transparency     </a:t>
            </a:r>
            <a:r>
              <a:rPr lang="en-US" sz="1800" dirty="0"/>
              <a:t>         –   in carbon credit tracking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br>
              <a:rPr lang="en-US" sz="1800" dirty="0"/>
            </a:br>
            <a:r>
              <a:rPr lang="en-US" sz="1800" b="1" dirty="0"/>
              <a:t>⏳ Slow verification</a:t>
            </a:r>
            <a:r>
              <a:rPr lang="en-US" sz="1800" dirty="0"/>
              <a:t>           	    –   for blue carbon projects  (mangroves , seagrass , salt marshes)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br>
              <a:rPr lang="en-US" sz="1800" dirty="0"/>
            </a:br>
            <a:r>
              <a:rPr lang="en-US" sz="1800" b="1" dirty="0"/>
              <a:t>🌱 Difficult for authorities	</a:t>
            </a:r>
            <a:r>
              <a:rPr lang="en-US" sz="1800" dirty="0"/>
              <a:t>    –   to authenticate local initiatives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endParaRPr lang="en-US" sz="2000" dirty="0"/>
          </a:p>
          <a:p>
            <a:pPr marL="342900" lvl="0" indent="-215900">
              <a:buClr>
                <a:schemeClr val="dk1"/>
              </a:buClr>
              <a:buSzPts val="2000"/>
            </a:pPr>
            <a:r>
              <a:rPr lang="en-IN" sz="3200" dirty="0">
                <a:solidFill>
                  <a:schemeClr val="bg2"/>
                </a:solidFill>
              </a:rPr>
              <a:t>❖</a:t>
            </a:r>
            <a:r>
              <a:rPr lang="en-US" sz="2000" dirty="0"/>
              <a:t> </a:t>
            </a:r>
            <a:r>
              <a:rPr lang="en-IN" sz="2400" b="1" dirty="0">
                <a:solidFill>
                  <a:schemeClr val="bg2"/>
                </a:solidFill>
              </a:rPr>
              <a:t>Proposed Solution / Idea :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endParaRPr lang="en-US" sz="2000" b="1" dirty="0">
              <a:solidFill>
                <a:schemeClr val="bg2"/>
              </a:solidFill>
            </a:endParaRPr>
          </a:p>
          <a:p>
            <a:pPr lvl="0">
              <a:buClr>
                <a:schemeClr val="dk1"/>
              </a:buClr>
              <a:buSzPts val="2800"/>
            </a:pPr>
            <a:r>
              <a:rPr lang="en-IN" sz="1800" b="1" dirty="0"/>
              <a:t>    🔗Blockchain platform</a:t>
            </a:r>
            <a:r>
              <a:rPr lang="en-IN" sz="1800" dirty="0"/>
              <a:t>                  –   for blue carbon credit tracking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🤖Smart contracts 		    </a:t>
            </a:r>
            <a:r>
              <a:rPr lang="en-IN" sz="1800" dirty="0"/>
              <a:t>–   Automatic tokenization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📱Mobile app + Drones + IoT</a:t>
            </a:r>
            <a:r>
              <a:rPr lang="en-IN" sz="1800" dirty="0"/>
              <a:t>        –   real-time data capture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📊 Admin dashboard             </a:t>
            </a:r>
            <a:r>
              <a:rPr lang="en-IN" sz="1800" dirty="0"/>
              <a:t>        –   for authority verification</a:t>
            </a:r>
          </a:p>
          <a:p>
            <a:pPr lvl="0">
              <a:buClr>
                <a:schemeClr val="dk1"/>
              </a:buClr>
              <a:buSzPts val="2800"/>
            </a:pPr>
            <a:endParaRPr lang="en-IN" sz="2000" dirty="0"/>
          </a:p>
          <a:p>
            <a:pPr marL="342900" lvl="0" indent="-215900">
              <a:buClr>
                <a:schemeClr val="dk1"/>
              </a:buClr>
              <a:buSzPts val="2000"/>
            </a:pPr>
            <a:endParaRPr lang="en-IN" sz="20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>
                <a:solidFill>
                  <a:schemeClr val="lt1"/>
                </a:solidFill>
              </a:rPr>
              <a:t>@SIH Idea submission- Template</a:t>
            </a: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141513" y="130794"/>
            <a:ext cx="1251857" cy="61278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8932" y="43628"/>
            <a:ext cx="1881554" cy="922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285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14" name="Google Shape;114;p3"/>
          <p:cNvSpPr txBox="1"/>
          <p:nvPr/>
        </p:nvSpPr>
        <p:spPr>
          <a:xfrm>
            <a:off x="30144" y="1691212"/>
            <a:ext cx="12192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sz="2800" b="1" dirty="0"/>
              <a:t>		 :</a:t>
            </a:r>
            <a:r>
              <a:rPr lang="en-IN" sz="2800" dirty="0"/>
              <a:t> Drones + Sensors</a:t>
            </a:r>
          </a:p>
          <a:p>
            <a:pPr lvl="0" algn="just">
              <a:buClr>
                <a:schemeClr val="dk1"/>
              </a:buClr>
              <a:buSzPts val="2800"/>
            </a:pPr>
            <a:endParaRPr sz="2800" dirty="0"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@SIH Idea submission- Template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141514" y="136165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lvl="0" algn="ctr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1ADBE1-4739-80E8-4953-F57CFB9D0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389"/>
              </p:ext>
            </p:extLst>
          </p:nvPr>
        </p:nvGraphicFramePr>
        <p:xfrm>
          <a:off x="90432" y="1405745"/>
          <a:ext cx="12011136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68">
                  <a:extLst>
                    <a:ext uri="{9D8B030D-6E8A-4147-A177-3AD203B41FA5}">
                      <a16:colId xmlns:a16="http://schemas.microsoft.com/office/drawing/2014/main" val="3687894678"/>
                    </a:ext>
                  </a:extLst>
                </a:gridCol>
                <a:gridCol w="6005568">
                  <a:extLst>
                    <a:ext uri="{9D8B030D-6E8A-4147-A177-3AD203B41FA5}">
                      <a16:colId xmlns:a16="http://schemas.microsoft.com/office/drawing/2014/main" val="2112015998"/>
                    </a:ext>
                  </a:extLst>
                </a:gridCol>
              </a:tblGrid>
              <a:tr h="4219552">
                <a:tc>
                  <a:txBody>
                    <a:bodyPr/>
                    <a:lstStyle/>
                    <a:p>
                      <a:pPr lvl="1"/>
                      <a:r>
                        <a:rPr lang="en-IN" sz="2800" b="1" dirty="0"/>
                        <a:t>Technologies :</a:t>
                      </a:r>
                    </a:p>
                    <a:p>
                      <a:pPr lvl="1"/>
                      <a:endParaRPr lang="en-IN" sz="2800" dirty="0"/>
                    </a:p>
                    <a:p>
                      <a:pPr lvl="1"/>
                      <a:r>
                        <a:rPr lang="en-IN" sz="2800" b="1" dirty="0"/>
                        <a:t>Blockchain          :</a:t>
                      </a:r>
                      <a:r>
                        <a:rPr lang="en-IN" sz="2800" dirty="0"/>
                        <a:t> Hyperledger or                                      Ethereum </a:t>
                      </a:r>
                    </a:p>
                    <a:p>
                      <a:pPr lvl="1"/>
                      <a:r>
                        <a:rPr lang="en-IN" sz="2800" b="1" dirty="0"/>
                        <a:t>Smart Contracts :</a:t>
                      </a:r>
                      <a:r>
                        <a:rPr lang="en-IN" sz="2800" dirty="0"/>
                        <a:t> Solidity</a:t>
                      </a:r>
                    </a:p>
                    <a:p>
                      <a:pPr lvl="1"/>
                      <a:r>
                        <a:rPr lang="en-IN" sz="2800" b="1" dirty="0"/>
                        <a:t>Mobile App	 :</a:t>
                      </a:r>
                      <a:r>
                        <a:rPr lang="en-IN" sz="2800" dirty="0"/>
                        <a:t> Flutter / React Native</a:t>
                      </a:r>
                    </a:p>
                    <a:p>
                      <a:pPr lvl="1"/>
                      <a:r>
                        <a:rPr lang="en-IN" sz="2800" b="1" dirty="0"/>
                        <a:t>Dashboard 	 :</a:t>
                      </a:r>
                      <a:r>
                        <a:rPr lang="en-IN" sz="2800" dirty="0"/>
                        <a:t> React + Node.js</a:t>
                      </a:r>
                    </a:p>
                    <a:p>
                      <a:pPr lvl="1"/>
                      <a:r>
                        <a:rPr lang="en-IN" sz="2800" b="1" dirty="0"/>
                        <a:t>Cloud DB            :</a:t>
                      </a:r>
                      <a:r>
                        <a:rPr lang="en-IN" sz="2800" dirty="0"/>
                        <a:t> AWS / Azure</a:t>
                      </a:r>
                    </a:p>
                    <a:p>
                      <a:pPr lvl="1"/>
                      <a:r>
                        <a:rPr lang="en-IN" sz="2800" b="1" dirty="0"/>
                        <a:t>IoT	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Methodology Flow :</a:t>
                      </a:r>
                    </a:p>
                    <a:p>
                      <a:endParaRPr lang="en-IN" sz="2400" b="1" dirty="0"/>
                    </a:p>
                    <a:p>
                      <a:r>
                        <a:rPr lang="en-IN" sz="2400" b="1" dirty="0"/>
                        <a:t> Data Capture</a:t>
                      </a:r>
                    </a:p>
                    <a:p>
                      <a:r>
                        <a:rPr lang="en-IN" sz="2400" b="1" dirty="0"/>
                        <a:t> </a:t>
                      </a:r>
                    </a:p>
                    <a:p>
                      <a:r>
                        <a:rPr lang="en-IN" sz="2400" b="1" dirty="0"/>
                        <a:t>                    Smart Contract Validation </a:t>
                      </a:r>
                    </a:p>
                    <a:p>
                      <a:r>
                        <a:rPr lang="en-IN" sz="2400" b="1" dirty="0"/>
                        <a:t> </a:t>
                      </a:r>
                    </a:p>
                    <a:p>
                      <a:r>
                        <a:rPr lang="en-IN" sz="2400" b="1" dirty="0"/>
                        <a:t> Token Generation</a:t>
                      </a:r>
                    </a:p>
                    <a:p>
                      <a:r>
                        <a:rPr lang="en-IN" sz="2400" b="1" dirty="0"/>
                        <a:t> </a:t>
                      </a:r>
                    </a:p>
                    <a:p>
                      <a:r>
                        <a:rPr lang="en-IN" sz="2400" b="1" dirty="0"/>
                        <a:t>                     Authority Verification</a:t>
                      </a:r>
                    </a:p>
                    <a:p>
                      <a:endParaRPr lang="en-IN" sz="2400" b="1" dirty="0"/>
                    </a:p>
                    <a:p>
                      <a:r>
                        <a:rPr lang="en-IN" sz="2400" b="1" dirty="0"/>
                        <a:t> Carbon Credit Issuance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9277"/>
                  </a:ext>
                </a:extLst>
              </a:tr>
            </a:tbl>
          </a:graphicData>
        </a:graphic>
      </p:graphicFrame>
      <p:sp>
        <p:nvSpPr>
          <p:cNvPr id="21" name="Arrow: Bent 20">
            <a:extLst>
              <a:ext uri="{FF2B5EF4-FFF2-40B4-BE49-F238E27FC236}">
                <a16:creationId xmlns:a16="http://schemas.microsoft.com/office/drawing/2014/main" id="{B41408E2-6734-D7A6-2FBB-42422D894DF5}"/>
              </a:ext>
            </a:extLst>
          </p:cNvPr>
          <p:cNvSpPr/>
          <p:nvPr/>
        </p:nvSpPr>
        <p:spPr>
          <a:xfrm rot="5400000">
            <a:off x="8575289" y="2075382"/>
            <a:ext cx="489240" cy="787078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504B6285-F4B0-A0BC-439E-556CC6985F98}"/>
              </a:ext>
            </a:extLst>
          </p:cNvPr>
          <p:cNvSpPr/>
          <p:nvPr/>
        </p:nvSpPr>
        <p:spPr>
          <a:xfrm rot="5400000" flipV="1">
            <a:off x="6927447" y="2864288"/>
            <a:ext cx="489240" cy="731963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ABA1B2EF-A644-2AEF-7454-07EB49B2571D}"/>
              </a:ext>
            </a:extLst>
          </p:cNvPr>
          <p:cNvSpPr/>
          <p:nvPr/>
        </p:nvSpPr>
        <p:spPr>
          <a:xfrm rot="5400000">
            <a:off x="9204085" y="3634246"/>
            <a:ext cx="489240" cy="717607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8959327C-9420-61B6-1790-D4AD77CE058E}"/>
              </a:ext>
            </a:extLst>
          </p:cNvPr>
          <p:cNvSpPr/>
          <p:nvPr/>
        </p:nvSpPr>
        <p:spPr>
          <a:xfrm rot="5400000" flipV="1">
            <a:off x="6979680" y="4276560"/>
            <a:ext cx="477033" cy="731963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BF01B8-66D3-D469-C884-0BBE4BAD4681}"/>
              </a:ext>
            </a:extLst>
          </p:cNvPr>
          <p:cNvSpPr/>
          <p:nvPr/>
        </p:nvSpPr>
        <p:spPr>
          <a:xfrm>
            <a:off x="6250200" y="2168245"/>
            <a:ext cx="1921527" cy="47703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823D208-F098-5D14-D2DD-360A663D6090}"/>
              </a:ext>
            </a:extLst>
          </p:cNvPr>
          <p:cNvSpPr/>
          <p:nvPr/>
        </p:nvSpPr>
        <p:spPr>
          <a:xfrm>
            <a:off x="7714808" y="2885700"/>
            <a:ext cx="3975622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6A89A85-71AE-CC81-6DA0-364B8E2901E6}"/>
              </a:ext>
            </a:extLst>
          </p:cNvPr>
          <p:cNvSpPr/>
          <p:nvPr/>
        </p:nvSpPr>
        <p:spPr>
          <a:xfrm>
            <a:off x="6195404" y="2145702"/>
            <a:ext cx="2045583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26526D-19C4-4C6D-7723-A73C1D63C1AD}"/>
              </a:ext>
            </a:extLst>
          </p:cNvPr>
          <p:cNvSpPr/>
          <p:nvPr/>
        </p:nvSpPr>
        <p:spPr>
          <a:xfrm>
            <a:off x="6195404" y="3562118"/>
            <a:ext cx="2685289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32B37A4-EB38-B028-7160-1036C7D87423}"/>
              </a:ext>
            </a:extLst>
          </p:cNvPr>
          <p:cNvSpPr/>
          <p:nvPr/>
        </p:nvSpPr>
        <p:spPr>
          <a:xfrm>
            <a:off x="7797290" y="4354754"/>
            <a:ext cx="3302832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580B66-6A08-FC29-2897-6EF32265B139}"/>
              </a:ext>
            </a:extLst>
          </p:cNvPr>
          <p:cNvSpPr/>
          <p:nvPr/>
        </p:nvSpPr>
        <p:spPr>
          <a:xfrm>
            <a:off x="6195404" y="5055517"/>
            <a:ext cx="3585500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C550F2-C9A6-1797-6A41-F1BB5CBFB702}"/>
              </a:ext>
            </a:extLst>
          </p:cNvPr>
          <p:cNvCxnSpPr/>
          <p:nvPr/>
        </p:nvCxnSpPr>
        <p:spPr>
          <a:xfrm>
            <a:off x="0" y="1956121"/>
            <a:ext cx="121015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509116" y="3070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141514" y="214864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1704" y="40768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736E7F-9FC9-5C21-FB17-FD149B3E3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87987"/>
              </p:ext>
            </p:extLst>
          </p:nvPr>
        </p:nvGraphicFramePr>
        <p:xfrm>
          <a:off x="141514" y="1357864"/>
          <a:ext cx="11948072" cy="4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7954">
                  <a:extLst>
                    <a:ext uri="{9D8B030D-6E8A-4147-A177-3AD203B41FA5}">
                      <a16:colId xmlns:a16="http://schemas.microsoft.com/office/drawing/2014/main" val="2111286132"/>
                    </a:ext>
                  </a:extLst>
                </a:gridCol>
                <a:gridCol w="6360118">
                  <a:extLst>
                    <a:ext uri="{9D8B030D-6E8A-4147-A177-3AD203B41FA5}">
                      <a16:colId xmlns:a16="http://schemas.microsoft.com/office/drawing/2014/main" val="3367737538"/>
                    </a:ext>
                  </a:extLst>
                </a:gridCol>
              </a:tblGrid>
              <a:tr h="453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Feasibility ✅ :</a:t>
                      </a:r>
                    </a:p>
                    <a:p>
                      <a:pPr>
                        <a:buNone/>
                      </a:pPr>
                      <a:endParaRPr lang="en-US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Proven tech: Blockchain + IoT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Scalable across coastal states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Offline data sync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Govt partnerships &amp; phased rollout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Open-source tools to reduce cost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Impact 🌍 :</a:t>
                      </a:r>
                    </a:p>
                    <a:p>
                      <a:pPr>
                        <a:buNone/>
                      </a:pPr>
                      <a:endParaRPr lang="en-IN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/>
                        <a:t>🌱 Environmental :</a:t>
                      </a:r>
                      <a:r>
                        <a:rPr lang="en-IN" sz="2400" dirty="0"/>
                        <a:t> Protect mangroves 			   &amp; seagrass</a:t>
                      </a:r>
                    </a:p>
                    <a:p>
                      <a:endParaRPr lang="en-IN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/>
                        <a:t>💼 Economic         :</a:t>
                      </a:r>
                      <a:r>
                        <a:rPr lang="en-IN" sz="2400" dirty="0"/>
                        <a:t> Credible carbon 			              offset for industries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IN" sz="24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IN" sz="2400" b="1" dirty="0"/>
                        <a:t>👥 Social               :</a:t>
                      </a:r>
                      <a:r>
                        <a:rPr lang="en-IN" sz="2400" dirty="0"/>
                        <a:t> Jobs for local     				   communities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5282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02F1-7EB6-540F-94F2-46A799AC149E}"/>
              </a:ext>
            </a:extLst>
          </p:cNvPr>
          <p:cNvCxnSpPr/>
          <p:nvPr/>
        </p:nvCxnSpPr>
        <p:spPr>
          <a:xfrm>
            <a:off x="0" y="1956121"/>
            <a:ext cx="121015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5" descr="Your startup LOGO"/>
          <p:cNvSpPr/>
          <p:nvPr/>
        </p:nvSpPr>
        <p:spPr>
          <a:xfrm>
            <a:off x="141514" y="120208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0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96BCA-0CE7-8A2C-CED8-9508A9EE162C}"/>
              </a:ext>
            </a:extLst>
          </p:cNvPr>
          <p:cNvSpPr txBox="1"/>
          <p:nvPr/>
        </p:nvSpPr>
        <p:spPr>
          <a:xfrm>
            <a:off x="767442" y="1264775"/>
            <a:ext cx="1054577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600" b="1" u="sng" dirty="0"/>
              <a:t>Environmental </a:t>
            </a:r>
            <a:r>
              <a:rPr lang="en-IN" sz="2600" b="1" dirty="0"/>
              <a:t>🌱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Preserve mangroves, seagrass, and coastal habitats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Increase carbon sequestration and combat climate change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600" dirty="0"/>
          </a:p>
          <a:p>
            <a:pPr>
              <a:buNone/>
            </a:pPr>
            <a:r>
              <a:rPr lang="en-IN" sz="2600" b="1" u="sng" dirty="0"/>
              <a:t>Economic</a:t>
            </a:r>
            <a:r>
              <a:rPr lang="en-IN" sz="2600" b="1" dirty="0"/>
              <a:t> 💼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Enable verified carbon credits for industries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Promote sustainable investments and green economy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600" dirty="0"/>
          </a:p>
          <a:p>
            <a:pPr>
              <a:buNone/>
            </a:pPr>
            <a:r>
              <a:rPr lang="en-IN" sz="2600" b="1" u="sng" dirty="0"/>
              <a:t>Social</a:t>
            </a:r>
            <a:r>
              <a:rPr lang="en-IN" sz="2600" b="1" dirty="0"/>
              <a:t> 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Generate livelihood opportunities for local communities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dirty="0"/>
              <a:t>Raise climate awareness and community participation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32023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 descr="Your startup LOGO"/>
          <p:cNvSpPr/>
          <p:nvPr/>
        </p:nvSpPr>
        <p:spPr>
          <a:xfrm>
            <a:off x="141514" y="120208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0" y="0"/>
            <a:ext cx="1922638" cy="10859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B22997-9F92-B157-F5CB-6E9BD6B91B1E}"/>
              </a:ext>
            </a:extLst>
          </p:cNvPr>
          <p:cNvSpPr txBox="1"/>
          <p:nvPr/>
        </p:nvSpPr>
        <p:spPr>
          <a:xfrm>
            <a:off x="145893" y="1582340"/>
            <a:ext cx="119002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dirty="0"/>
              <a:t>📚 </a:t>
            </a:r>
            <a:r>
              <a:rPr lang="en-IN" sz="2600" b="1" dirty="0"/>
              <a:t>UN Blue Carbon Reports  </a:t>
            </a:r>
            <a:r>
              <a:rPr lang="en-IN" sz="2600" dirty="0"/>
              <a:t>– Global guidelines on coastal ecosystems</a:t>
            </a:r>
          </a:p>
          <a:p>
            <a:br>
              <a:rPr lang="en-IN" sz="2600" dirty="0"/>
            </a:br>
            <a:r>
              <a:rPr lang="en-IN" sz="2600" dirty="0"/>
              <a:t>🌐 </a:t>
            </a:r>
            <a:r>
              <a:rPr lang="en-IN" sz="2600" b="1" dirty="0"/>
              <a:t>Govt of India  – </a:t>
            </a:r>
            <a:r>
              <a:rPr lang="en-IN" sz="2600" b="1" dirty="0" err="1"/>
              <a:t>MoEFCC</a:t>
            </a:r>
            <a:r>
              <a:rPr lang="en-IN" sz="2600" b="1" dirty="0"/>
              <a:t> Guidelines</a:t>
            </a:r>
            <a:r>
              <a:rPr lang="en-IN" sz="2600" dirty="0"/>
              <a:t>  – National framework for carbon 							   credits</a:t>
            </a:r>
          </a:p>
          <a:p>
            <a:br>
              <a:rPr lang="en-IN" sz="2600" dirty="0"/>
            </a:br>
            <a:r>
              <a:rPr lang="en-IN" sz="2600" dirty="0"/>
              <a:t>📄 </a:t>
            </a:r>
            <a:r>
              <a:rPr lang="en-IN" sz="2600" b="1" dirty="0"/>
              <a:t>World Bank    – Blockchain in Carbon Markets</a:t>
            </a:r>
            <a:r>
              <a:rPr lang="en-IN" sz="2600" dirty="0"/>
              <a:t> –  Use of emerging 										tech for climate action</a:t>
            </a:r>
          </a:p>
          <a:p>
            <a:br>
              <a:rPr lang="en-IN" sz="2600" dirty="0"/>
            </a:br>
            <a:r>
              <a:rPr lang="en-IN" sz="2600" dirty="0"/>
              <a:t>📝 </a:t>
            </a:r>
            <a:r>
              <a:rPr lang="en-IN" sz="2600" b="1" dirty="0"/>
              <a:t>Key Research Papers</a:t>
            </a:r>
            <a:r>
              <a:rPr lang="en-IN" sz="2600" dirty="0"/>
              <a:t> – Blue carbon restoration &amp; verification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/diagrams / Infographics /pictures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 should be unique and novel. 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portal. No PPT, Word Doc or any other format will be supported.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idea on SIH portal.</a:t>
            </a:r>
            <a:endParaRPr sz="18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Idea PPT: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609</Words>
  <Application>Microsoft Office PowerPoint</Application>
  <PresentationFormat>Widescreen</PresentationFormat>
  <Paragraphs>120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Oswald</vt:lpstr>
      <vt:lpstr>Times New Roman</vt:lpstr>
      <vt:lpstr>Calibri</vt:lpstr>
      <vt:lpstr>Noto Sans Symbols</vt:lpstr>
      <vt:lpstr>Garamond</vt:lpstr>
      <vt:lpstr>Arial</vt:lpstr>
      <vt:lpstr>Office Theme</vt:lpstr>
      <vt:lpstr>SMART INDIA HACKATHON 2025</vt:lpstr>
      <vt:lpstr> Blockchain-Based Blue Carbon Registry &amp; MRV Platform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ATHI .</cp:lastModifiedBy>
  <cp:revision>2</cp:revision>
  <dcterms:created xsi:type="dcterms:W3CDTF">2013-12-12T18:46:50Z</dcterms:created>
  <dcterms:modified xsi:type="dcterms:W3CDTF">2025-09-06T18:29:04Z</dcterms:modified>
</cp:coreProperties>
</file>