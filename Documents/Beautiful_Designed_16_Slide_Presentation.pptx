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6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EA0188-5476-4A1C-AD3E-6BB89D51BD5D}" v="2" dt="2025-11-14T05:12:35.9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0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THI ." userId="ebcd4abaf1cde84e" providerId="LiveId" clId="{5A62D4A1-E166-47D5-950C-F7A9F72F7C6D}"/>
    <pc:docChg chg="undo custSel modSld">
      <pc:chgData name="ATHI ." userId="ebcd4abaf1cde84e" providerId="LiveId" clId="{5A62D4A1-E166-47D5-950C-F7A9F72F7C6D}" dt="2025-11-14T05:13:50.719" v="151" actId="1076"/>
      <pc:docMkLst>
        <pc:docMk/>
      </pc:docMkLst>
      <pc:sldChg chg="addSp modSp mod">
        <pc:chgData name="ATHI ." userId="ebcd4abaf1cde84e" providerId="LiveId" clId="{5A62D4A1-E166-47D5-950C-F7A9F72F7C6D}" dt="2025-11-14T05:13:50.719" v="151" actId="1076"/>
        <pc:sldMkLst>
          <pc:docMk/>
          <pc:sldMk cId="0" sldId="256"/>
        </pc:sldMkLst>
        <pc:spChg chg="mod">
          <ac:chgData name="ATHI ." userId="ebcd4abaf1cde84e" providerId="LiveId" clId="{5A62D4A1-E166-47D5-950C-F7A9F72F7C6D}" dt="2025-11-14T05:06:57.463" v="26" actId="27636"/>
          <ac:spMkLst>
            <pc:docMk/>
            <pc:sldMk cId="0" sldId="256"/>
            <ac:spMk id="2" creationId="{00000000-0000-0000-0000-000000000000}"/>
          </ac:spMkLst>
        </pc:spChg>
        <pc:spChg chg="mod">
          <ac:chgData name="ATHI ." userId="ebcd4abaf1cde84e" providerId="LiveId" clId="{5A62D4A1-E166-47D5-950C-F7A9F72F7C6D}" dt="2025-11-14T05:06:46.429" v="24" actId="5793"/>
          <ac:spMkLst>
            <pc:docMk/>
            <pc:sldMk cId="0" sldId="256"/>
            <ac:spMk id="3" creationId="{00000000-0000-0000-0000-000000000000}"/>
          </ac:spMkLst>
        </pc:spChg>
        <pc:spChg chg="add mod">
          <ac:chgData name="ATHI ." userId="ebcd4abaf1cde84e" providerId="LiveId" clId="{5A62D4A1-E166-47D5-950C-F7A9F72F7C6D}" dt="2025-11-14T05:12:11.783" v="134" actId="113"/>
          <ac:spMkLst>
            <pc:docMk/>
            <pc:sldMk cId="0" sldId="256"/>
            <ac:spMk id="4" creationId="{6CE10A95-735A-D612-E162-C9F25F97F1B1}"/>
          </ac:spMkLst>
        </pc:spChg>
        <pc:spChg chg="add mod">
          <ac:chgData name="ATHI ." userId="ebcd4abaf1cde84e" providerId="LiveId" clId="{5A62D4A1-E166-47D5-950C-F7A9F72F7C6D}" dt="2025-11-14T05:13:50.719" v="151" actId="1076"/>
          <ac:spMkLst>
            <pc:docMk/>
            <pc:sldMk cId="0" sldId="256"/>
            <ac:spMk id="5" creationId="{62CA83BF-4F45-8C42-45F7-00008DE554F9}"/>
          </ac:spMkLst>
        </pc:spChg>
      </pc:sldChg>
      <pc:sldChg chg="modSp mod">
        <pc:chgData name="ATHI ." userId="ebcd4abaf1cde84e" providerId="LiveId" clId="{5A62D4A1-E166-47D5-950C-F7A9F72F7C6D}" dt="2025-11-14T05:07:24.313" v="33" actId="27636"/>
        <pc:sldMkLst>
          <pc:docMk/>
          <pc:sldMk cId="0" sldId="257"/>
        </pc:sldMkLst>
        <pc:spChg chg="mod">
          <ac:chgData name="ATHI ." userId="ebcd4abaf1cde84e" providerId="LiveId" clId="{5A62D4A1-E166-47D5-950C-F7A9F72F7C6D}" dt="2025-11-14T05:07:24.313" v="33" actId="27636"/>
          <ac:spMkLst>
            <pc:docMk/>
            <pc:sldMk cId="0" sldId="257"/>
            <ac:spMk id="2" creationId="{00000000-0000-0000-0000-000000000000}"/>
          </ac:spMkLst>
        </pc:spChg>
        <pc:spChg chg="mod">
          <ac:chgData name="ATHI ." userId="ebcd4abaf1cde84e" providerId="LiveId" clId="{5A62D4A1-E166-47D5-950C-F7A9F72F7C6D}" dt="2025-11-14T05:07:19.868" v="31" actId="1076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ATHI ." userId="ebcd4abaf1cde84e" providerId="LiveId" clId="{5A62D4A1-E166-47D5-950C-F7A9F72F7C6D}" dt="2025-11-14T05:07:40.651" v="37" actId="5793"/>
        <pc:sldMkLst>
          <pc:docMk/>
          <pc:sldMk cId="0" sldId="258"/>
        </pc:sldMkLst>
        <pc:spChg chg="mod">
          <ac:chgData name="ATHI ." userId="ebcd4abaf1cde84e" providerId="LiveId" clId="{5A62D4A1-E166-47D5-950C-F7A9F72F7C6D}" dt="2025-11-14T05:07:40.651" v="37" actId="5793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ATHI ." userId="ebcd4abaf1cde84e" providerId="LiveId" clId="{5A62D4A1-E166-47D5-950C-F7A9F72F7C6D}" dt="2025-11-14T05:07:52.189" v="43" actId="5793"/>
        <pc:sldMkLst>
          <pc:docMk/>
          <pc:sldMk cId="0" sldId="259"/>
        </pc:sldMkLst>
        <pc:spChg chg="mod">
          <ac:chgData name="ATHI ." userId="ebcd4abaf1cde84e" providerId="LiveId" clId="{5A62D4A1-E166-47D5-950C-F7A9F72F7C6D}" dt="2025-11-14T05:07:52.189" v="43" actId="5793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ATHI ." userId="ebcd4abaf1cde84e" providerId="LiveId" clId="{5A62D4A1-E166-47D5-950C-F7A9F72F7C6D}" dt="2025-11-14T05:07:59.801" v="47" actId="5793"/>
        <pc:sldMkLst>
          <pc:docMk/>
          <pc:sldMk cId="0" sldId="260"/>
        </pc:sldMkLst>
        <pc:spChg chg="mod">
          <ac:chgData name="ATHI ." userId="ebcd4abaf1cde84e" providerId="LiveId" clId="{5A62D4A1-E166-47D5-950C-F7A9F72F7C6D}" dt="2025-11-14T05:07:59.801" v="47" actId="5793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ATHI ." userId="ebcd4abaf1cde84e" providerId="LiveId" clId="{5A62D4A1-E166-47D5-950C-F7A9F72F7C6D}" dt="2025-11-14T05:08:10.410" v="52" actId="5793"/>
        <pc:sldMkLst>
          <pc:docMk/>
          <pc:sldMk cId="0" sldId="262"/>
        </pc:sldMkLst>
        <pc:spChg chg="mod">
          <ac:chgData name="ATHI ." userId="ebcd4abaf1cde84e" providerId="LiveId" clId="{5A62D4A1-E166-47D5-950C-F7A9F72F7C6D}" dt="2025-11-14T05:08:10.410" v="52" actId="5793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ATHI ." userId="ebcd4abaf1cde84e" providerId="LiveId" clId="{5A62D4A1-E166-47D5-950C-F7A9F72F7C6D}" dt="2025-11-14T05:09:19.522" v="82" actId="27636"/>
        <pc:sldMkLst>
          <pc:docMk/>
          <pc:sldMk cId="0" sldId="263"/>
        </pc:sldMkLst>
        <pc:spChg chg="mod">
          <ac:chgData name="ATHI ." userId="ebcd4abaf1cde84e" providerId="LiveId" clId="{5A62D4A1-E166-47D5-950C-F7A9F72F7C6D}" dt="2025-11-14T05:09:19.522" v="82" actId="27636"/>
          <ac:spMkLst>
            <pc:docMk/>
            <pc:sldMk cId="0" sldId="263"/>
            <ac:spMk id="2" creationId="{00000000-0000-0000-0000-000000000000}"/>
          </ac:spMkLst>
        </pc:spChg>
        <pc:spChg chg="mod">
          <ac:chgData name="ATHI ." userId="ebcd4abaf1cde84e" providerId="LiveId" clId="{5A62D4A1-E166-47D5-950C-F7A9F72F7C6D}" dt="2025-11-14T05:08:17.289" v="56" actId="5793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ATHI ." userId="ebcd4abaf1cde84e" providerId="LiveId" clId="{5A62D4A1-E166-47D5-950C-F7A9F72F7C6D}" dt="2025-11-14T05:09:19.540" v="83" actId="27636"/>
        <pc:sldMkLst>
          <pc:docMk/>
          <pc:sldMk cId="0" sldId="264"/>
        </pc:sldMkLst>
        <pc:spChg chg="mod">
          <ac:chgData name="ATHI ." userId="ebcd4abaf1cde84e" providerId="LiveId" clId="{5A62D4A1-E166-47D5-950C-F7A9F72F7C6D}" dt="2025-11-14T05:09:19.540" v="83" actId="27636"/>
          <ac:spMkLst>
            <pc:docMk/>
            <pc:sldMk cId="0" sldId="264"/>
            <ac:spMk id="2" creationId="{00000000-0000-0000-0000-000000000000}"/>
          </ac:spMkLst>
        </pc:spChg>
        <pc:spChg chg="mod">
          <ac:chgData name="ATHI ." userId="ebcd4abaf1cde84e" providerId="LiveId" clId="{5A62D4A1-E166-47D5-950C-F7A9F72F7C6D}" dt="2025-11-14T05:08:24.346" v="60" actId="5793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ATHI ." userId="ebcd4abaf1cde84e" providerId="LiveId" clId="{5A62D4A1-E166-47D5-950C-F7A9F72F7C6D}" dt="2025-11-14T05:08:31.105" v="64" actId="5793"/>
        <pc:sldMkLst>
          <pc:docMk/>
          <pc:sldMk cId="0" sldId="265"/>
        </pc:sldMkLst>
        <pc:spChg chg="mod">
          <ac:chgData name="ATHI ." userId="ebcd4abaf1cde84e" providerId="LiveId" clId="{5A62D4A1-E166-47D5-950C-F7A9F72F7C6D}" dt="2025-11-14T05:08:31.105" v="64" actId="5793"/>
          <ac:spMkLst>
            <pc:docMk/>
            <pc:sldMk cId="0" sldId="265"/>
            <ac:spMk id="3" creationId="{00000000-0000-0000-0000-000000000000}"/>
          </ac:spMkLst>
        </pc:spChg>
      </pc:sldChg>
      <pc:sldChg chg="modSp mod">
        <pc:chgData name="ATHI ." userId="ebcd4abaf1cde84e" providerId="LiveId" clId="{5A62D4A1-E166-47D5-950C-F7A9F72F7C6D}" dt="2025-11-14T05:09:19.557" v="84" actId="27636"/>
        <pc:sldMkLst>
          <pc:docMk/>
          <pc:sldMk cId="0" sldId="267"/>
        </pc:sldMkLst>
        <pc:spChg chg="mod">
          <ac:chgData name="ATHI ." userId="ebcd4abaf1cde84e" providerId="LiveId" clId="{5A62D4A1-E166-47D5-950C-F7A9F72F7C6D}" dt="2025-11-14T05:09:19.557" v="84" actId="27636"/>
          <ac:spMkLst>
            <pc:docMk/>
            <pc:sldMk cId="0" sldId="267"/>
            <ac:spMk id="2" creationId="{00000000-0000-0000-0000-000000000000}"/>
          </ac:spMkLst>
        </pc:spChg>
        <pc:spChg chg="mod">
          <ac:chgData name="ATHI ." userId="ebcd4abaf1cde84e" providerId="LiveId" clId="{5A62D4A1-E166-47D5-950C-F7A9F72F7C6D}" dt="2025-11-14T05:08:40.029" v="68" actId="5793"/>
          <ac:spMkLst>
            <pc:docMk/>
            <pc:sldMk cId="0" sldId="267"/>
            <ac:spMk id="3" creationId="{00000000-0000-0000-0000-000000000000}"/>
          </ac:spMkLst>
        </pc:spChg>
      </pc:sldChg>
      <pc:sldChg chg="modSp mod">
        <pc:chgData name="ATHI ." userId="ebcd4abaf1cde84e" providerId="LiveId" clId="{5A62D4A1-E166-47D5-950C-F7A9F72F7C6D}" dt="2025-11-14T05:08:44.976" v="72" actId="5793"/>
        <pc:sldMkLst>
          <pc:docMk/>
          <pc:sldMk cId="0" sldId="268"/>
        </pc:sldMkLst>
        <pc:spChg chg="mod">
          <ac:chgData name="ATHI ." userId="ebcd4abaf1cde84e" providerId="LiveId" clId="{5A62D4A1-E166-47D5-950C-F7A9F72F7C6D}" dt="2025-11-14T05:08:44.976" v="72" actId="5793"/>
          <ac:spMkLst>
            <pc:docMk/>
            <pc:sldMk cId="0" sldId="268"/>
            <ac:spMk id="3" creationId="{00000000-0000-0000-0000-000000000000}"/>
          </ac:spMkLst>
        </pc:spChg>
      </pc:sldChg>
      <pc:sldChg chg="modSp mod">
        <pc:chgData name="ATHI ." userId="ebcd4abaf1cde84e" providerId="LiveId" clId="{5A62D4A1-E166-47D5-950C-F7A9F72F7C6D}" dt="2025-11-14T05:08:51.644" v="76" actId="5793"/>
        <pc:sldMkLst>
          <pc:docMk/>
          <pc:sldMk cId="0" sldId="269"/>
        </pc:sldMkLst>
        <pc:spChg chg="mod">
          <ac:chgData name="ATHI ." userId="ebcd4abaf1cde84e" providerId="LiveId" clId="{5A62D4A1-E166-47D5-950C-F7A9F72F7C6D}" dt="2025-11-14T05:08:51.644" v="76" actId="5793"/>
          <ac:spMkLst>
            <pc:docMk/>
            <pc:sldMk cId="0" sldId="269"/>
            <ac:spMk id="3" creationId="{00000000-0000-0000-0000-000000000000}"/>
          </ac:spMkLst>
        </pc:spChg>
      </pc:sldChg>
      <pc:sldChg chg="modSp mod">
        <pc:chgData name="ATHI ." userId="ebcd4abaf1cde84e" providerId="LiveId" clId="{5A62D4A1-E166-47D5-950C-F7A9F72F7C6D}" dt="2025-11-14T05:08:58.469" v="80" actId="5793"/>
        <pc:sldMkLst>
          <pc:docMk/>
          <pc:sldMk cId="0" sldId="270"/>
        </pc:sldMkLst>
        <pc:spChg chg="mod">
          <ac:chgData name="ATHI ." userId="ebcd4abaf1cde84e" providerId="LiveId" clId="{5A62D4A1-E166-47D5-950C-F7A9F72F7C6D}" dt="2025-11-14T05:08:58.469" v="80" actId="5793"/>
          <ac:spMkLst>
            <pc:docMk/>
            <pc:sldMk cId="0" sldId="270"/>
            <ac:spMk id="3" creationId="{00000000-0000-0000-0000-000000000000}"/>
          </ac:spMkLst>
        </pc:spChg>
      </pc:sldChg>
      <pc:sldChg chg="modSp mod">
        <pc:chgData name="ATHI ." userId="ebcd4abaf1cde84e" providerId="LiveId" clId="{5A62D4A1-E166-47D5-950C-F7A9F72F7C6D}" dt="2025-11-14T05:06:20.939" v="19" actId="1076"/>
        <pc:sldMkLst>
          <pc:docMk/>
          <pc:sldMk cId="0" sldId="271"/>
        </pc:sldMkLst>
        <pc:spChg chg="mod">
          <ac:chgData name="ATHI ." userId="ebcd4abaf1cde84e" providerId="LiveId" clId="{5A62D4A1-E166-47D5-950C-F7A9F72F7C6D}" dt="2025-11-14T05:06:20.939" v="19" actId="1076"/>
          <ac:spMkLst>
            <pc:docMk/>
            <pc:sldMk cId="0" sldId="271"/>
            <ac:spMk id="2" creationId="{00000000-0000-0000-0000-000000000000}"/>
          </ac:spMkLst>
        </pc:spChg>
        <pc:spChg chg="mod">
          <ac:chgData name="ATHI ." userId="ebcd4abaf1cde84e" providerId="LiveId" clId="{5A62D4A1-E166-47D5-950C-F7A9F72F7C6D}" dt="2025-11-14T05:06:12.910" v="18" actId="1076"/>
          <ac:spMkLst>
            <pc:docMk/>
            <pc:sldMk cId="0" sldId="271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3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0"/>
            <a:ext cx="8229600" cy="1143000"/>
          </a:xfrm>
        </p:spPr>
        <p:txBody>
          <a:bodyPr>
            <a:normAutofit fontScale="90000"/>
          </a:bodyPr>
          <a:lstStyle/>
          <a:p>
            <a:pPr>
              <a:defRPr sz="5400" b="1">
                <a:solidFill>
                  <a:srgbClr val="FFE678"/>
                </a:solidFill>
              </a:defRPr>
            </a:pPr>
            <a:r>
              <a:rPr dirty="0"/>
              <a:t>TYPE INFERENCE AND POLYMORPHISM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007" y="4461641"/>
            <a:ext cx="3224048" cy="2049517"/>
          </a:xfrm>
        </p:spPr>
        <p:txBody>
          <a:bodyPr/>
          <a:lstStyle/>
          <a:p>
            <a:endParaRPr dirty="0"/>
          </a:p>
          <a:p>
            <a:pPr marL="0" indent="0">
              <a:buNone/>
              <a:defRPr sz="3400">
                <a:solidFill>
                  <a:srgbClr val="E6E6E6"/>
                </a:solidFill>
              </a:defRPr>
            </a:pPr>
            <a:r>
              <a:rPr dirty="0"/>
              <a:t>ATHITHYAN G</a:t>
            </a:r>
          </a:p>
          <a:p>
            <a:pPr marL="0" indent="0">
              <a:buNone/>
              <a:defRPr sz="3400">
                <a:solidFill>
                  <a:srgbClr val="E6E6E6"/>
                </a:solidFill>
              </a:defRPr>
            </a:pPr>
            <a:r>
              <a:rPr dirty="0"/>
              <a:t>7376241CS137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E10A95-735A-D612-E162-C9F25F97F1B1}"/>
              </a:ext>
            </a:extLst>
          </p:cNvPr>
          <p:cNvSpPr txBox="1"/>
          <p:nvPr/>
        </p:nvSpPr>
        <p:spPr>
          <a:xfrm>
            <a:off x="2329355" y="945931"/>
            <a:ext cx="50252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FE678"/>
                </a:solidFill>
              </a:rPr>
              <a:t>PPL SEMINAR  PRESENTATION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CA83BF-4F45-8C42-45F7-00008DE554F9}"/>
              </a:ext>
            </a:extLst>
          </p:cNvPr>
          <p:cNvSpPr txBox="1"/>
          <p:nvPr/>
        </p:nvSpPr>
        <p:spPr>
          <a:xfrm>
            <a:off x="134007" y="6218770"/>
            <a:ext cx="28182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</a:rPr>
              <a:t>22CS304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3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46138"/>
            <a:ext cx="8229600" cy="1143000"/>
          </a:xfrm>
        </p:spPr>
        <p:txBody>
          <a:bodyPr>
            <a:normAutofit fontScale="90000"/>
          </a:bodyPr>
          <a:lstStyle/>
          <a:p>
            <a:pPr>
              <a:defRPr sz="5400" b="1">
                <a:solidFill>
                  <a:srgbClr val="FFE678"/>
                </a:solidFill>
              </a:defRPr>
            </a:pPr>
            <a:r>
              <a:rPr dirty="0"/>
              <a:t>Introduction to Type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46586"/>
            <a:ext cx="8229600" cy="4525963"/>
          </a:xfrm>
        </p:spPr>
        <p:txBody>
          <a:bodyPr/>
          <a:lstStyle/>
          <a:p>
            <a:endParaRPr dirty="0"/>
          </a:p>
          <a:p>
            <a:pPr marL="0" indent="0">
              <a:buNone/>
              <a:defRPr sz="3400">
                <a:solidFill>
                  <a:srgbClr val="E6E6E6"/>
                </a:solidFill>
              </a:defRPr>
            </a:pPr>
            <a:r>
              <a:rPr dirty="0"/>
              <a:t>• Defines how values are classified</a:t>
            </a:r>
          </a:p>
          <a:p>
            <a:pPr marL="0" indent="0">
              <a:buNone/>
              <a:defRPr sz="3400">
                <a:solidFill>
                  <a:srgbClr val="E6E6E6"/>
                </a:solidFill>
              </a:defRPr>
            </a:pPr>
            <a:r>
              <a:rPr dirty="0"/>
              <a:t>• Prevents invalid operations</a:t>
            </a:r>
          </a:p>
          <a:p>
            <a:pPr marL="0" indent="0">
              <a:buNone/>
              <a:defRPr sz="3400">
                <a:solidFill>
                  <a:srgbClr val="E6E6E6"/>
                </a:solidFill>
              </a:defRPr>
            </a:pPr>
            <a:r>
              <a:rPr dirty="0"/>
              <a:t>• Strong vs Weak typing</a:t>
            </a:r>
          </a:p>
          <a:p>
            <a:pPr marL="0" indent="0">
              <a:buNone/>
              <a:defRPr sz="3400">
                <a:solidFill>
                  <a:srgbClr val="E6E6E6"/>
                </a:solidFill>
              </a:defRPr>
            </a:pPr>
            <a:r>
              <a:rPr dirty="0"/>
              <a:t>• Static vs Dynamic typing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3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5400" b="1">
                <a:solidFill>
                  <a:srgbClr val="FFE678"/>
                </a:solidFill>
              </a:defRPr>
            </a:pPr>
            <a:r>
              <a:t>What is Type Inference?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  <a:defRPr sz="3400">
                <a:solidFill>
                  <a:srgbClr val="E6E6E6"/>
                </a:solidFill>
              </a:defRPr>
            </a:pPr>
            <a:r>
              <a:rPr dirty="0"/>
              <a:t>• Compiler automatically detects variable types</a:t>
            </a:r>
          </a:p>
          <a:p>
            <a:pPr marL="0" indent="0">
              <a:buNone/>
              <a:defRPr sz="3400">
                <a:solidFill>
                  <a:srgbClr val="E6E6E6"/>
                </a:solidFill>
              </a:defRPr>
            </a:pPr>
            <a:r>
              <a:rPr dirty="0"/>
              <a:t>• Reduces need for explicit declarations</a:t>
            </a:r>
          </a:p>
          <a:p>
            <a:pPr marL="0" indent="0">
              <a:buNone/>
              <a:defRPr sz="3400">
                <a:solidFill>
                  <a:srgbClr val="E6E6E6"/>
                </a:solidFill>
              </a:defRPr>
            </a:pPr>
            <a:r>
              <a:rPr dirty="0"/>
              <a:t>• Cleaner and shorter code</a:t>
            </a:r>
          </a:p>
          <a:p>
            <a:pPr marL="0" indent="0">
              <a:buNone/>
              <a:defRPr sz="3400">
                <a:solidFill>
                  <a:srgbClr val="E6E6E6"/>
                </a:solidFill>
              </a:defRPr>
            </a:pPr>
            <a:r>
              <a:rPr dirty="0"/>
              <a:t>• Used in Kotlin, Swift, TypeScript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3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5400" b="1">
                <a:solidFill>
                  <a:srgbClr val="FFE678"/>
                </a:solidFill>
              </a:defRPr>
            </a:pPr>
            <a:r>
              <a:t>How Type Inference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  <a:defRPr sz="3400">
                <a:solidFill>
                  <a:srgbClr val="E6E6E6"/>
                </a:solidFill>
              </a:defRPr>
            </a:pPr>
            <a:r>
              <a:rPr dirty="0"/>
              <a:t>• Compiler analyzes expression structure</a:t>
            </a:r>
          </a:p>
          <a:p>
            <a:pPr marL="0" indent="0">
              <a:buNone/>
              <a:defRPr sz="3400">
                <a:solidFill>
                  <a:srgbClr val="E6E6E6"/>
                </a:solidFill>
              </a:defRPr>
            </a:pPr>
            <a:r>
              <a:rPr dirty="0"/>
              <a:t>• Determines type from context</a:t>
            </a:r>
          </a:p>
          <a:p>
            <a:pPr marL="0" indent="0">
              <a:buNone/>
              <a:defRPr sz="3400">
                <a:solidFill>
                  <a:srgbClr val="E6E6E6"/>
                </a:solidFill>
              </a:defRPr>
            </a:pPr>
            <a:r>
              <a:rPr dirty="0"/>
              <a:t>• Uses constraints to infer accurate type</a:t>
            </a:r>
          </a:p>
          <a:p>
            <a:pPr marL="0" indent="0">
              <a:buNone/>
              <a:defRPr sz="3400">
                <a:solidFill>
                  <a:srgbClr val="E6E6E6"/>
                </a:solidFill>
              </a:defRPr>
            </a:pPr>
            <a:r>
              <a:rPr dirty="0"/>
              <a:t>• Prevents runtime type errors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3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5400" b="1">
                <a:solidFill>
                  <a:srgbClr val="FFE678"/>
                </a:solidFill>
              </a:defRPr>
            </a:pPr>
            <a:r>
              <a:t>Benefits of Type Inference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  <a:defRPr sz="3400">
                <a:solidFill>
                  <a:srgbClr val="E6E6E6"/>
                </a:solidFill>
              </a:defRPr>
            </a:pPr>
            <a:r>
              <a:rPr dirty="0"/>
              <a:t>• Reduces code size</a:t>
            </a:r>
          </a:p>
          <a:p>
            <a:pPr marL="0" indent="0">
              <a:buNone/>
              <a:defRPr sz="3400">
                <a:solidFill>
                  <a:srgbClr val="E6E6E6"/>
                </a:solidFill>
              </a:defRPr>
            </a:pPr>
            <a:r>
              <a:rPr dirty="0"/>
              <a:t>• Enhances readability</a:t>
            </a:r>
          </a:p>
          <a:p>
            <a:pPr marL="0" indent="0">
              <a:buNone/>
              <a:defRPr sz="3400">
                <a:solidFill>
                  <a:srgbClr val="E6E6E6"/>
                </a:solidFill>
              </a:defRPr>
            </a:pPr>
            <a:r>
              <a:rPr dirty="0"/>
              <a:t>• Ensures type safety</a:t>
            </a:r>
          </a:p>
          <a:p>
            <a:pPr marL="0" indent="0">
              <a:buNone/>
              <a:defRPr sz="3400">
                <a:solidFill>
                  <a:srgbClr val="E6E6E6"/>
                </a:solidFill>
              </a:defRPr>
            </a:pPr>
            <a:r>
              <a:rPr dirty="0"/>
              <a:t>• Faster development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3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5400" b="1">
                <a:solidFill>
                  <a:srgbClr val="FFE678"/>
                </a:solidFill>
              </a:defRPr>
            </a:pPr>
            <a:r>
              <a:t>Examples of Type Inference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3400">
                <a:solidFill>
                  <a:srgbClr val="E6E6E6"/>
                </a:solidFill>
              </a:defRPr>
            </a:pPr>
            <a:r>
              <a:t>Kotlin: val x = 10</a:t>
            </a:r>
          </a:p>
          <a:p>
            <a:pPr>
              <a:defRPr sz="3400">
                <a:solidFill>
                  <a:srgbClr val="E6E6E6"/>
                </a:solidFill>
              </a:defRPr>
            </a:pPr>
            <a:r>
              <a:t>Swift: var name = "John"</a:t>
            </a:r>
          </a:p>
          <a:p>
            <a:pPr>
              <a:defRPr sz="3400">
                <a:solidFill>
                  <a:srgbClr val="E6E6E6"/>
                </a:solidFill>
              </a:defRPr>
            </a:pPr>
            <a:r>
              <a:t>Python: x = 5</a:t>
            </a:r>
          </a:p>
          <a:p>
            <a:pPr>
              <a:defRPr sz="3400">
                <a:solidFill>
                  <a:srgbClr val="E6E6E6"/>
                </a:solidFill>
              </a:defRPr>
            </a:pPr>
            <a:r>
              <a:t>C++: auto value = 3.14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3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5400" b="1">
                <a:solidFill>
                  <a:srgbClr val="FFE678"/>
                </a:solidFill>
              </a:defRPr>
            </a:pPr>
            <a:r>
              <a:t>Type Inference in Languages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  <a:defRPr sz="3400">
                <a:solidFill>
                  <a:srgbClr val="E6E6E6"/>
                </a:solidFill>
              </a:defRPr>
            </a:pPr>
            <a:r>
              <a:rPr dirty="0"/>
              <a:t>• Python → Dynamic inference</a:t>
            </a:r>
          </a:p>
          <a:p>
            <a:pPr marL="0" indent="0">
              <a:buNone/>
              <a:defRPr sz="3400">
                <a:solidFill>
                  <a:srgbClr val="E6E6E6"/>
                </a:solidFill>
              </a:defRPr>
            </a:pPr>
            <a:r>
              <a:rPr dirty="0"/>
              <a:t>• C++ → auto keyword</a:t>
            </a:r>
          </a:p>
          <a:p>
            <a:pPr marL="0" indent="0">
              <a:buNone/>
              <a:defRPr sz="3400">
                <a:solidFill>
                  <a:srgbClr val="E6E6E6"/>
                </a:solidFill>
              </a:defRPr>
            </a:pPr>
            <a:r>
              <a:rPr dirty="0"/>
              <a:t>• Haskell → Hindley-Milner</a:t>
            </a:r>
          </a:p>
          <a:p>
            <a:pPr marL="0" indent="0">
              <a:buNone/>
              <a:defRPr sz="3400">
                <a:solidFill>
                  <a:srgbClr val="E6E6E6"/>
                </a:solidFill>
              </a:defRPr>
            </a:pPr>
            <a:r>
              <a:rPr dirty="0"/>
              <a:t>• Java → var keyword</a:t>
            </a:r>
          </a:p>
          <a:p>
            <a:pPr marL="0" indent="0">
              <a:buNone/>
              <a:defRPr sz="3400">
                <a:solidFill>
                  <a:srgbClr val="E6E6E6"/>
                </a:solidFill>
              </a:defRPr>
            </a:pPr>
            <a:r>
              <a:rPr dirty="0"/>
              <a:t>• TypeScript → contextual inference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3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5400" b="1">
                <a:solidFill>
                  <a:srgbClr val="FFE678"/>
                </a:solidFill>
              </a:defRPr>
            </a:pPr>
            <a:r>
              <a:t>Hindley–Milner Type Inference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  <a:defRPr sz="3400">
                <a:solidFill>
                  <a:srgbClr val="E6E6E6"/>
                </a:solidFill>
              </a:defRPr>
            </a:pPr>
            <a:r>
              <a:rPr dirty="0"/>
              <a:t>• Used in ML, Haskell, F#</a:t>
            </a:r>
          </a:p>
          <a:p>
            <a:pPr marL="0" indent="0">
              <a:buNone/>
              <a:defRPr sz="3400">
                <a:solidFill>
                  <a:srgbClr val="E6E6E6"/>
                </a:solidFill>
              </a:defRPr>
            </a:pPr>
            <a:r>
              <a:rPr dirty="0"/>
              <a:t>• Uses unification concept</a:t>
            </a:r>
          </a:p>
          <a:p>
            <a:pPr marL="0" indent="0">
              <a:buNone/>
              <a:defRPr sz="3400">
                <a:solidFill>
                  <a:srgbClr val="E6E6E6"/>
                </a:solidFill>
              </a:defRPr>
            </a:pPr>
            <a:r>
              <a:rPr dirty="0"/>
              <a:t>• Supports polymorphic types</a:t>
            </a:r>
          </a:p>
          <a:p>
            <a:pPr marL="0" indent="0">
              <a:buNone/>
              <a:defRPr sz="3400">
                <a:solidFill>
                  <a:srgbClr val="E6E6E6"/>
                </a:solidFill>
              </a:defRPr>
            </a:pPr>
            <a:r>
              <a:rPr dirty="0"/>
              <a:t>• Entire program inferred without annotations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3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5400" b="1">
                <a:solidFill>
                  <a:srgbClr val="FFE678"/>
                </a:solidFill>
              </a:defRPr>
            </a:pPr>
            <a:r>
              <a:t>Limitations of Type Inference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  <a:defRPr sz="3400">
                <a:solidFill>
                  <a:srgbClr val="E6E6E6"/>
                </a:solidFill>
              </a:defRPr>
            </a:pPr>
            <a:r>
              <a:rPr dirty="0"/>
              <a:t>• Can struggle with complex expressions</a:t>
            </a:r>
          </a:p>
          <a:p>
            <a:pPr marL="0" indent="0">
              <a:buNone/>
              <a:defRPr sz="3400">
                <a:solidFill>
                  <a:srgbClr val="E6E6E6"/>
                </a:solidFill>
              </a:defRPr>
            </a:pPr>
            <a:r>
              <a:rPr dirty="0"/>
              <a:t>• Sometimes requires explicit types</a:t>
            </a:r>
          </a:p>
          <a:p>
            <a:pPr marL="0" indent="0">
              <a:buNone/>
              <a:defRPr sz="3400">
                <a:solidFill>
                  <a:srgbClr val="E6E6E6"/>
                </a:solidFill>
              </a:defRPr>
            </a:pPr>
            <a:r>
              <a:rPr dirty="0"/>
              <a:t>• Compilation becomes slower</a:t>
            </a:r>
          </a:p>
          <a:p>
            <a:pPr marL="0" indent="0">
              <a:buNone/>
              <a:defRPr sz="3400">
                <a:solidFill>
                  <a:srgbClr val="E6E6E6"/>
                </a:solidFill>
              </a:defRPr>
            </a:pPr>
            <a:r>
              <a:rPr dirty="0"/>
              <a:t>• Ambiguous return types occur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3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5400" b="1">
                <a:solidFill>
                  <a:srgbClr val="FFE678"/>
                </a:solidFill>
              </a:defRPr>
            </a:pPr>
            <a:r>
              <a:t>What is Polymorphism?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  <a:defRPr sz="3400">
                <a:solidFill>
                  <a:srgbClr val="E6E6E6"/>
                </a:solidFill>
              </a:defRPr>
            </a:pPr>
            <a:r>
              <a:rPr dirty="0"/>
              <a:t>• Means 'many forms'</a:t>
            </a:r>
          </a:p>
          <a:p>
            <a:pPr marL="0" indent="0">
              <a:buNone/>
              <a:defRPr sz="3400">
                <a:solidFill>
                  <a:srgbClr val="E6E6E6"/>
                </a:solidFill>
              </a:defRPr>
            </a:pPr>
            <a:r>
              <a:rPr dirty="0"/>
              <a:t>• Same function behaves differently</a:t>
            </a:r>
          </a:p>
          <a:p>
            <a:pPr marL="0" indent="0">
              <a:buNone/>
              <a:defRPr sz="3400">
                <a:solidFill>
                  <a:srgbClr val="E6E6E6"/>
                </a:solidFill>
              </a:defRPr>
            </a:pPr>
            <a:r>
              <a:rPr dirty="0"/>
              <a:t>• Core concept of OOP</a:t>
            </a:r>
          </a:p>
          <a:p>
            <a:pPr marL="0" indent="0">
              <a:buNone/>
              <a:defRPr sz="3400">
                <a:solidFill>
                  <a:srgbClr val="E6E6E6"/>
                </a:solidFill>
              </a:defRPr>
            </a:pPr>
            <a:r>
              <a:rPr dirty="0"/>
              <a:t>• Achieved using overriding and overloading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3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5400" b="1">
                <a:solidFill>
                  <a:srgbClr val="FFE678"/>
                </a:solidFill>
              </a:defRPr>
            </a:pPr>
            <a:r>
              <a:t>Types of Polymorphism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3400">
                <a:solidFill>
                  <a:srgbClr val="E6E6E6"/>
                </a:solidFill>
              </a:defRPr>
            </a:pPr>
            <a:r>
              <a:t>1. Compile-time Polymorphism</a:t>
            </a:r>
          </a:p>
          <a:p>
            <a:pPr>
              <a:defRPr sz="3400">
                <a:solidFill>
                  <a:srgbClr val="E6E6E6"/>
                </a:solidFill>
              </a:defRPr>
            </a:pPr>
            <a:r>
              <a:t>2. Runtime Polymorphism</a:t>
            </a:r>
          </a:p>
          <a:p>
            <a:pPr>
              <a:defRPr sz="3400">
                <a:solidFill>
                  <a:srgbClr val="E6E6E6"/>
                </a:solidFill>
              </a:defRPr>
            </a:pPr>
            <a:r>
              <a:t>3. Parametric Polymorphism</a:t>
            </a:r>
          </a:p>
          <a:p>
            <a:pPr>
              <a:defRPr sz="3400">
                <a:solidFill>
                  <a:srgbClr val="E6E6E6"/>
                </a:solidFill>
              </a:defRPr>
            </a:pPr>
            <a:r>
              <a:t>4. Subtype Polymorphism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3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5400" b="1">
                <a:solidFill>
                  <a:srgbClr val="FFE678"/>
                </a:solidFill>
              </a:defRPr>
            </a:pPr>
            <a:r>
              <a:t>Compile-time Polymorphism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  <a:defRPr sz="3400">
                <a:solidFill>
                  <a:srgbClr val="E6E6E6"/>
                </a:solidFill>
              </a:defRPr>
            </a:pPr>
            <a:r>
              <a:rPr dirty="0"/>
              <a:t>• Happens at compile-time</a:t>
            </a:r>
          </a:p>
          <a:p>
            <a:pPr marL="0" indent="0">
              <a:buNone/>
              <a:defRPr sz="3400">
                <a:solidFill>
                  <a:srgbClr val="E6E6E6"/>
                </a:solidFill>
              </a:defRPr>
            </a:pPr>
            <a:r>
              <a:rPr dirty="0"/>
              <a:t>• Function/Operator overloading</a:t>
            </a:r>
          </a:p>
          <a:p>
            <a:pPr marL="0" indent="0">
              <a:buNone/>
              <a:defRPr sz="3400">
                <a:solidFill>
                  <a:srgbClr val="E6E6E6"/>
                </a:solidFill>
              </a:defRPr>
            </a:pPr>
            <a:r>
              <a:rPr dirty="0"/>
              <a:t>• Faster execution</a:t>
            </a:r>
          </a:p>
          <a:p>
            <a:pPr marL="0" indent="0">
              <a:buNone/>
              <a:defRPr sz="3400">
                <a:solidFill>
                  <a:srgbClr val="E6E6E6"/>
                </a:solidFill>
              </a:defRPr>
            </a:pPr>
            <a:r>
              <a:rPr dirty="0"/>
              <a:t>• Example: add(int), add(float)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3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5400" b="1">
                <a:solidFill>
                  <a:srgbClr val="FFE678"/>
                </a:solidFill>
              </a:defRPr>
            </a:pPr>
            <a:r>
              <a:t>Run-time Polymorphism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  <a:defRPr sz="3400">
                <a:solidFill>
                  <a:srgbClr val="E6E6E6"/>
                </a:solidFill>
              </a:defRPr>
            </a:pPr>
            <a:r>
              <a:rPr dirty="0"/>
              <a:t>• Happens during execution</a:t>
            </a:r>
          </a:p>
          <a:p>
            <a:pPr marL="0" indent="0">
              <a:buNone/>
              <a:defRPr sz="3400">
                <a:solidFill>
                  <a:srgbClr val="E6E6E6"/>
                </a:solidFill>
              </a:defRPr>
            </a:pPr>
            <a:r>
              <a:rPr dirty="0"/>
              <a:t>• Achieved through overriding</a:t>
            </a:r>
          </a:p>
          <a:p>
            <a:pPr marL="0" indent="0">
              <a:buNone/>
              <a:defRPr sz="3400">
                <a:solidFill>
                  <a:srgbClr val="E6E6E6"/>
                </a:solidFill>
              </a:defRPr>
            </a:pPr>
            <a:r>
              <a:rPr dirty="0"/>
              <a:t>• Uses dynamic dispatch</a:t>
            </a:r>
          </a:p>
          <a:p>
            <a:pPr marL="0" indent="0">
              <a:buNone/>
              <a:defRPr sz="3400">
                <a:solidFill>
                  <a:srgbClr val="E6E6E6"/>
                </a:solidFill>
              </a:defRPr>
            </a:pPr>
            <a:r>
              <a:rPr dirty="0"/>
              <a:t>• Example: </a:t>
            </a:r>
            <a:r>
              <a:rPr dirty="0" err="1"/>
              <a:t>Animal.sound</a:t>
            </a:r>
            <a:r>
              <a:rPr dirty="0"/>
              <a:t>()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3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5400" b="1">
                <a:solidFill>
                  <a:srgbClr val="FFE678"/>
                </a:solidFill>
              </a:defRPr>
            </a:pPr>
            <a:r>
              <a:t>Parametric Polymorphism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  <a:defRPr sz="3400">
                <a:solidFill>
                  <a:srgbClr val="E6E6E6"/>
                </a:solidFill>
              </a:defRPr>
            </a:pPr>
            <a:r>
              <a:rPr dirty="0"/>
              <a:t>• Works with multiple data types</a:t>
            </a:r>
          </a:p>
          <a:p>
            <a:pPr marL="0" indent="0">
              <a:buNone/>
              <a:defRPr sz="3400">
                <a:solidFill>
                  <a:srgbClr val="E6E6E6"/>
                </a:solidFill>
              </a:defRPr>
            </a:pPr>
            <a:r>
              <a:rPr dirty="0"/>
              <a:t>• Achieved via generics/templates</a:t>
            </a:r>
          </a:p>
          <a:p>
            <a:pPr marL="0" indent="0">
              <a:buNone/>
              <a:defRPr sz="3400">
                <a:solidFill>
                  <a:srgbClr val="E6E6E6"/>
                </a:solidFill>
              </a:defRPr>
            </a:pPr>
            <a:r>
              <a:rPr dirty="0"/>
              <a:t>• Example: C++ templates, Java generics</a:t>
            </a:r>
          </a:p>
          <a:p>
            <a:pPr marL="0" indent="0">
              <a:buNone/>
              <a:defRPr sz="3400">
                <a:solidFill>
                  <a:srgbClr val="E6E6E6"/>
                </a:solidFill>
              </a:defRPr>
            </a:pPr>
            <a:r>
              <a:rPr dirty="0"/>
              <a:t>• Ensures flexibility and safety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3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5400" b="1">
                <a:solidFill>
                  <a:srgbClr val="FFE678"/>
                </a:solidFill>
              </a:defRPr>
            </a:pPr>
            <a:r>
              <a:t>Subtype Polymorphism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  <a:defRPr sz="3400">
                <a:solidFill>
                  <a:srgbClr val="E6E6E6"/>
                </a:solidFill>
              </a:defRPr>
            </a:pPr>
            <a:r>
              <a:rPr dirty="0"/>
              <a:t>• Based on inheritance</a:t>
            </a:r>
          </a:p>
          <a:p>
            <a:pPr marL="0" indent="0">
              <a:buNone/>
              <a:defRPr sz="3400">
                <a:solidFill>
                  <a:srgbClr val="E6E6E6"/>
                </a:solidFill>
              </a:defRPr>
            </a:pPr>
            <a:r>
              <a:rPr dirty="0"/>
              <a:t>• Child treated as parent</a:t>
            </a:r>
          </a:p>
          <a:p>
            <a:pPr marL="0" indent="0">
              <a:buNone/>
              <a:defRPr sz="3400">
                <a:solidFill>
                  <a:srgbClr val="E6E6E6"/>
                </a:solidFill>
              </a:defRPr>
            </a:pPr>
            <a:r>
              <a:rPr dirty="0"/>
              <a:t>• Example: Animal a = new Dog()</a:t>
            </a:r>
          </a:p>
          <a:p>
            <a:pPr marL="0" indent="0">
              <a:buNone/>
              <a:defRPr sz="3400">
                <a:solidFill>
                  <a:srgbClr val="E6E6E6"/>
                </a:solidFill>
              </a:defRPr>
            </a:pPr>
            <a:r>
              <a:rPr dirty="0"/>
              <a:t>• Enhances reusability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3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00962"/>
            <a:ext cx="8229600" cy="1143000"/>
          </a:xfrm>
        </p:spPr>
        <p:txBody>
          <a:bodyPr/>
          <a:lstStyle/>
          <a:p>
            <a:pPr>
              <a:defRPr sz="5400" b="1">
                <a:solidFill>
                  <a:srgbClr val="FFE678"/>
                </a:solidFill>
              </a:defRPr>
            </a:pPr>
            <a:r>
              <a:rPr dirty="0"/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75" y="4729657"/>
            <a:ext cx="3058510" cy="1939158"/>
          </a:xfrm>
        </p:spPr>
        <p:txBody>
          <a:bodyPr/>
          <a:lstStyle/>
          <a:p>
            <a:endParaRPr dirty="0"/>
          </a:p>
          <a:p>
            <a:pPr marL="0" indent="0">
              <a:buNone/>
              <a:defRPr sz="3400">
                <a:solidFill>
                  <a:srgbClr val="E6E6E6"/>
                </a:solidFill>
              </a:defRPr>
            </a:pPr>
            <a:r>
              <a:rPr dirty="0"/>
              <a:t>ATHITHYAN G</a:t>
            </a:r>
          </a:p>
          <a:p>
            <a:pPr marL="0" indent="0">
              <a:buNone/>
              <a:defRPr sz="3400">
                <a:solidFill>
                  <a:srgbClr val="E6E6E6"/>
                </a:solidFill>
              </a:defRPr>
            </a:pPr>
            <a:r>
              <a:rPr dirty="0"/>
              <a:t>7376241CS137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366</Words>
  <Application>Microsoft Office PowerPoint</Application>
  <PresentationFormat>On-screen Show (4:3)</PresentationFormat>
  <Paragraphs>95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TYPE INFERENCE AND POLYMORPHISM</vt:lpstr>
      <vt:lpstr>Introduction to Type Systems</vt:lpstr>
      <vt:lpstr>What is Type Inference?</vt:lpstr>
      <vt:lpstr>How Type Inference Works</vt:lpstr>
      <vt:lpstr>Benefits of Type Inference</vt:lpstr>
      <vt:lpstr>Examples of Type Inference</vt:lpstr>
      <vt:lpstr>Type Inference in Languages</vt:lpstr>
      <vt:lpstr>Hindley–Milner Type Inference</vt:lpstr>
      <vt:lpstr>Limitations of Type Inference</vt:lpstr>
      <vt:lpstr>What is Polymorphism?</vt:lpstr>
      <vt:lpstr>Types of Polymorphism</vt:lpstr>
      <vt:lpstr>Compile-time Polymorphism</vt:lpstr>
      <vt:lpstr>Run-time Polymorphism</vt:lpstr>
      <vt:lpstr>Parametric Polymorphism</vt:lpstr>
      <vt:lpstr>Subtype Polymorphism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ATHI .</cp:lastModifiedBy>
  <cp:revision>1</cp:revision>
  <dcterms:created xsi:type="dcterms:W3CDTF">2013-01-27T09:14:16Z</dcterms:created>
  <dcterms:modified xsi:type="dcterms:W3CDTF">2025-11-14T05:13:55Z</dcterms:modified>
  <cp:category/>
</cp:coreProperties>
</file>