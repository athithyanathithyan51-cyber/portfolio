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3D7FE-8663-4AAD-849B-B9F95984DFBE}" v="4" dt="2025-11-17T10:03:54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I ." userId="ebcd4abaf1cde84e" providerId="LiveId" clId="{5A62D4A1-E166-47D5-950C-F7A9F72F7C6D}"/>
    <pc:docChg chg="custSel addSld delSld modSld">
      <pc:chgData name="ATHI ." userId="ebcd4abaf1cde84e" providerId="LiveId" clId="{5A62D4A1-E166-47D5-950C-F7A9F72F7C6D}" dt="2025-11-17T10:04:32.471" v="126" actId="1076"/>
      <pc:docMkLst>
        <pc:docMk/>
      </pc:docMkLst>
      <pc:sldChg chg="modSp mod">
        <pc:chgData name="ATHI ." userId="ebcd4abaf1cde84e" providerId="LiveId" clId="{5A62D4A1-E166-47D5-950C-F7A9F72F7C6D}" dt="2025-11-17T10:01:08.294" v="81" actId="1076"/>
        <pc:sldMkLst>
          <pc:docMk/>
          <pc:sldMk cId="0" sldId="256"/>
        </pc:sldMkLst>
        <pc:spChg chg="mod">
          <ac:chgData name="ATHI ." userId="ebcd4abaf1cde84e" providerId="LiveId" clId="{5A62D4A1-E166-47D5-950C-F7A9F72F7C6D}" dt="2025-11-17T10:01:08.294" v="8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7T10:01:01.958" v="80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7T10:01:23.247" v="84" actId="5793"/>
        <pc:sldMkLst>
          <pc:docMk/>
          <pc:sldMk cId="0" sldId="258"/>
        </pc:sldMkLst>
        <pc:spChg chg="mod">
          <ac:chgData name="ATHI ." userId="ebcd4abaf1cde84e" providerId="LiveId" clId="{5A62D4A1-E166-47D5-950C-F7A9F72F7C6D}" dt="2025-11-17T10:01:23.247" v="84" actId="579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7T10:01:29.711" v="87" actId="5793"/>
        <pc:sldMkLst>
          <pc:docMk/>
          <pc:sldMk cId="0" sldId="259"/>
        </pc:sldMkLst>
        <pc:spChg chg="mod">
          <ac:chgData name="ATHI ." userId="ebcd4abaf1cde84e" providerId="LiveId" clId="{5A62D4A1-E166-47D5-950C-F7A9F72F7C6D}" dt="2025-11-17T10:01:29.711" v="87" actId="579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7T10:01:34.957" v="90" actId="5793"/>
        <pc:sldMkLst>
          <pc:docMk/>
          <pc:sldMk cId="0" sldId="260"/>
        </pc:sldMkLst>
        <pc:spChg chg="mod">
          <ac:chgData name="ATHI ." userId="ebcd4abaf1cde84e" providerId="LiveId" clId="{5A62D4A1-E166-47D5-950C-F7A9F72F7C6D}" dt="2025-11-17T10:01:34.957" v="90" actId="579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7T10:01:41.489" v="93" actId="5793"/>
        <pc:sldMkLst>
          <pc:docMk/>
          <pc:sldMk cId="0" sldId="261"/>
        </pc:sldMkLst>
        <pc:spChg chg="mod">
          <ac:chgData name="ATHI ." userId="ebcd4abaf1cde84e" providerId="LiveId" clId="{5A62D4A1-E166-47D5-950C-F7A9F72F7C6D}" dt="2025-11-17T09:59:54.894" v="10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7T10:01:41.489" v="93" actId="5793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7T10:01:47.495" v="95" actId="5793"/>
        <pc:sldMkLst>
          <pc:docMk/>
          <pc:sldMk cId="0" sldId="262"/>
        </pc:sldMkLst>
        <pc:spChg chg="mod">
          <ac:chgData name="ATHI ." userId="ebcd4abaf1cde84e" providerId="LiveId" clId="{5A62D4A1-E166-47D5-950C-F7A9F72F7C6D}" dt="2025-11-17T10:01:47.495" v="95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7T10:01:51.902" v="97" actId="5793"/>
        <pc:sldMkLst>
          <pc:docMk/>
          <pc:sldMk cId="0" sldId="263"/>
        </pc:sldMkLst>
        <pc:spChg chg="mod">
          <ac:chgData name="ATHI ." userId="ebcd4abaf1cde84e" providerId="LiveId" clId="{5A62D4A1-E166-47D5-950C-F7A9F72F7C6D}" dt="2025-11-17T10:01:51.902" v="97" actId="5793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7T10:01:56.901" v="100" actId="5793"/>
        <pc:sldMkLst>
          <pc:docMk/>
          <pc:sldMk cId="0" sldId="264"/>
        </pc:sldMkLst>
        <pc:spChg chg="mod">
          <ac:chgData name="ATHI ." userId="ebcd4abaf1cde84e" providerId="LiveId" clId="{5A62D4A1-E166-47D5-950C-F7A9F72F7C6D}" dt="2025-11-17T10:01:56.901" v="100" actId="579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7T10:02:04.687" v="103" actId="5793"/>
        <pc:sldMkLst>
          <pc:docMk/>
          <pc:sldMk cId="0" sldId="265"/>
        </pc:sldMkLst>
        <pc:spChg chg="mod">
          <ac:chgData name="ATHI ." userId="ebcd4abaf1cde84e" providerId="LiveId" clId="{5A62D4A1-E166-47D5-950C-F7A9F72F7C6D}" dt="2025-11-17T10:02:04.687" v="103" actId="5793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7T10:02:09.289" v="105" actId="5793"/>
        <pc:sldMkLst>
          <pc:docMk/>
          <pc:sldMk cId="0" sldId="266"/>
        </pc:sldMkLst>
        <pc:spChg chg="mod">
          <ac:chgData name="ATHI ." userId="ebcd4abaf1cde84e" providerId="LiveId" clId="{5A62D4A1-E166-47D5-950C-F7A9F72F7C6D}" dt="2025-11-17T09:59:54.903" v="11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7T10:02:09.289" v="105" actId="5793"/>
          <ac:spMkLst>
            <pc:docMk/>
            <pc:sldMk cId="0" sldId="266"/>
            <ac:spMk id="3" creationId="{00000000-0000-0000-0000-000000000000}"/>
          </ac:spMkLst>
        </pc:spChg>
      </pc:sldChg>
      <pc:sldChg chg="modSp del mod">
        <pc:chgData name="ATHI ." userId="ebcd4abaf1cde84e" providerId="LiveId" clId="{5A62D4A1-E166-47D5-950C-F7A9F72F7C6D}" dt="2025-11-17T10:03:33.367" v="117" actId="2696"/>
        <pc:sldMkLst>
          <pc:docMk/>
          <pc:sldMk cId="0" sldId="267"/>
        </pc:sldMkLst>
        <pc:spChg chg="mod">
          <ac:chgData name="ATHI ." userId="ebcd4abaf1cde84e" providerId="LiveId" clId="{5A62D4A1-E166-47D5-950C-F7A9F72F7C6D}" dt="2025-11-17T10:02:49.900" v="109" actId="21"/>
          <ac:spMkLst>
            <pc:docMk/>
            <pc:sldMk cId="0" sldId="267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7T10:03:22.536" v="116" actId="14100"/>
          <ac:spMkLst>
            <pc:docMk/>
            <pc:sldMk cId="0" sldId="267"/>
            <ac:spMk id="3" creationId="{00000000-0000-0000-0000-000000000000}"/>
          </ac:spMkLst>
        </pc:spChg>
      </pc:sldChg>
      <pc:sldChg chg="addSp modSp new mod">
        <pc:chgData name="ATHI ." userId="ebcd4abaf1cde84e" providerId="LiveId" clId="{5A62D4A1-E166-47D5-950C-F7A9F72F7C6D}" dt="2025-11-17T10:04:32.471" v="126" actId="1076"/>
        <pc:sldMkLst>
          <pc:docMk/>
          <pc:sldMk cId="2273185479" sldId="267"/>
        </pc:sldMkLst>
        <pc:spChg chg="add mod">
          <ac:chgData name="ATHI ." userId="ebcd4abaf1cde84e" providerId="LiveId" clId="{5A62D4A1-E166-47D5-950C-F7A9F72F7C6D}" dt="2025-11-17T10:04:32.471" v="126" actId="1076"/>
          <ac:spMkLst>
            <pc:docMk/>
            <pc:sldMk cId="2273185479" sldId="267"/>
            <ac:spMk id="2" creationId="{E62D8356-CF04-2893-F6F6-27DD44E204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2130425"/>
            <a:ext cx="7772400" cy="1470025"/>
          </a:xfrm>
        </p:spPr>
        <p:txBody>
          <a:bodyPr/>
          <a:lstStyle/>
          <a:p>
            <a:r>
              <a:rPr dirty="0"/>
              <a:t>Architectures of Acceleration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0624" y="3886200"/>
            <a:ext cx="8531352" cy="17526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ATHITHYAN G</a:t>
            </a:r>
          </a:p>
          <a:p>
            <a:r>
              <a:rPr dirty="0"/>
              <a:t>7376241CS137</a:t>
            </a:r>
          </a:p>
          <a:p>
            <a:r>
              <a:rPr b="1" dirty="0"/>
              <a:t>C</a:t>
            </a:r>
            <a:r>
              <a:rPr lang="en-IN" b="1" dirty="0"/>
              <a:t>OMPUTER</a:t>
            </a:r>
            <a:r>
              <a:rPr b="1" dirty="0"/>
              <a:t> O</a:t>
            </a:r>
            <a:r>
              <a:rPr lang="en-IN" b="1" dirty="0"/>
              <a:t>RGANIZATION</a:t>
            </a:r>
            <a:r>
              <a:rPr b="1" dirty="0"/>
              <a:t> </a:t>
            </a:r>
            <a:r>
              <a:rPr lang="en-IN" b="1" dirty="0"/>
              <a:t>AND</a:t>
            </a:r>
            <a:r>
              <a:rPr b="1" dirty="0"/>
              <a:t> A</a:t>
            </a:r>
            <a:r>
              <a:rPr lang="en-IN" b="1" dirty="0"/>
              <a:t>RCHITECTURES</a:t>
            </a:r>
          </a:p>
          <a:p>
            <a:r>
              <a:rPr lang="en-IN" b="1" dirty="0"/>
              <a:t>22CS303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from CISC to RISC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CISC was developed due to expensive memory in early computers.</a:t>
            </a:r>
          </a:p>
          <a:p>
            <a:r>
              <a:t>• Complex instructions reduced code size but increased hardware complexity.</a:t>
            </a:r>
          </a:p>
          <a:p>
            <a:r>
              <a:t>• RISC introduced simple, uniform instructions enabling faster pipelines.</a:t>
            </a:r>
          </a:p>
          <a:p>
            <a:r>
              <a:t>• Modern processors internally translate CISC into RISC-like micro-ops.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Instruction Set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x86 uses micro-op fusion, speculation, and deep pipelines.</a:t>
            </a:r>
          </a:p>
          <a:p>
            <a:pPr marL="0" indent="0">
              <a:buNone/>
            </a:pPr>
            <a:r>
              <a:rPr dirty="0"/>
              <a:t>• ARM leads in efficiency and mobile/server adoption.</a:t>
            </a:r>
          </a:p>
          <a:p>
            <a:pPr marL="0" indent="0">
              <a:buNone/>
            </a:pPr>
            <a:r>
              <a:rPr dirty="0"/>
              <a:t>• Design priorities focus on efficiency, compiler support, and scalability.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Superscalar and ILP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Superscalar processors execute multiple instructions per cycle.</a:t>
            </a:r>
          </a:p>
          <a:p>
            <a:pPr marL="0" indent="0">
              <a:buNone/>
            </a:pPr>
            <a:r>
              <a:rPr dirty="0"/>
              <a:t>• Uses register renaming, dynamic scheduling, and out-of-order execution.</a:t>
            </a:r>
          </a:p>
          <a:p>
            <a:pPr marL="0" indent="0">
              <a:buNone/>
            </a:pPr>
            <a:r>
              <a:rPr dirty="0"/>
              <a:t>• Minimizes stalls and improves instruction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RISC and CISC in ILP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RISC architectures initially fit ILP better due to uniform instruction size.</a:t>
            </a:r>
          </a:p>
          <a:p>
            <a:pPr marL="0" indent="0">
              <a:buNone/>
            </a:pPr>
            <a:r>
              <a:rPr dirty="0"/>
              <a:t>• CISC later adopted ILP through internal instruction translation.</a:t>
            </a:r>
          </a:p>
          <a:p>
            <a:pPr marL="0" indent="0">
              <a:buNone/>
            </a:pPr>
            <a:r>
              <a:rPr dirty="0"/>
              <a:t>• Backend execution is now similar between both architectures.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Tera MTA and Extreme 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Zero-overhead switching among 128+ hardware threads.</a:t>
            </a:r>
          </a:p>
          <a:p>
            <a:pPr marL="0" indent="0">
              <a:buNone/>
            </a:pPr>
            <a:r>
              <a:rPr dirty="0"/>
              <a:t>• Hides memory latency entirely by rapid thread interleaving.</a:t>
            </a:r>
          </a:p>
          <a:p>
            <a:pPr marL="0" indent="0">
              <a:buNone/>
            </a:pPr>
            <a:r>
              <a:rPr dirty="0"/>
              <a:t>• Optimized for irregular, memory-heavy, and sparse workloads.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Influence on Modern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Inspired GPU-style massive parallelism.</a:t>
            </a:r>
          </a:p>
          <a:p>
            <a:pPr marL="0" indent="0">
              <a:buNone/>
            </a:pPr>
            <a:r>
              <a:rPr dirty="0"/>
              <a:t>• Hardware-managed concurrency remains central to modern CPUs and accelerators.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Deep Learning Acceleration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SIMT model executes thousands of lightweight threads.</a:t>
            </a:r>
          </a:p>
          <a:p>
            <a:pPr marL="0" indent="0">
              <a:buNone/>
            </a:pPr>
            <a:r>
              <a:rPr dirty="0"/>
              <a:t>• Ideal for matrix operations used in AI training and inference.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HBM and Tensor 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HBM enables terabytes-per-second bandwidth.</a:t>
            </a:r>
          </a:p>
          <a:p>
            <a:pPr marL="0" indent="0">
              <a:buNone/>
            </a:pPr>
            <a:r>
              <a:rPr dirty="0"/>
              <a:t>• Tensor Cores accelerate matrix operations using fused multiply-accumulate.</a:t>
            </a:r>
          </a:p>
          <a:p>
            <a:pPr marL="0" indent="0">
              <a:buNone/>
            </a:pPr>
            <a:r>
              <a:rPr dirty="0"/>
              <a:t>• Essential for high-performance AI computation.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Wafer-Scale Processors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Integrates many dies on a single wafer using on-silicon interconnects.</a:t>
            </a:r>
          </a:p>
          <a:p>
            <a:pPr marL="0" indent="0">
              <a:buNone/>
            </a:pPr>
            <a:r>
              <a:rPr dirty="0"/>
              <a:t>• Eliminates packaging bottlenecks and increases compute density.</a:t>
            </a:r>
          </a:p>
          <a:p>
            <a:pPr marL="0" indent="0">
              <a:buNone/>
            </a:pPr>
            <a:r>
              <a:rPr dirty="0"/>
              <a:t>• Enables extremely high bandwidth and massive parallelism.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Sparsity-Aware and Fine-Grained Compute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Activates only compute units processing non-zero elements, saving power.</a:t>
            </a:r>
          </a:p>
          <a:p>
            <a:pPr marL="0" indent="0">
              <a:buNone/>
            </a:pPr>
            <a:r>
              <a:rPr dirty="0"/>
              <a:t>• Effective in sparse ML models and scientific computations.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D8356-CF04-2893-F6F6-27DD44E204E2}"/>
              </a:ext>
            </a:extLst>
          </p:cNvPr>
          <p:cNvSpPr txBox="1"/>
          <p:nvPr/>
        </p:nvSpPr>
        <p:spPr>
          <a:xfrm>
            <a:off x="2368296" y="2551176"/>
            <a:ext cx="6181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73185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344</Words>
  <Application>Microsoft Office PowerPoint</Application>
  <PresentationFormat>On-screen Show (4:3)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Architectures of Acceleration</vt:lpstr>
      <vt:lpstr>Evolution from CISC to RISC</vt:lpstr>
      <vt:lpstr>Modern Instruction Set Trends</vt:lpstr>
      <vt:lpstr>Superscalar and ILP Enhancements</vt:lpstr>
      <vt:lpstr>RISC and CISC in ILP Era</vt:lpstr>
      <vt:lpstr>Tera MTA and Extreme Multithreading</vt:lpstr>
      <vt:lpstr>Influence on Modern Architectures</vt:lpstr>
      <vt:lpstr>GPU Deep Learning Acceleration</vt:lpstr>
      <vt:lpstr>HBM and Tensor Core Architecture</vt:lpstr>
      <vt:lpstr>Wafer-Scale Processors</vt:lpstr>
      <vt:lpstr>Sparsity-Aware and Fine-Grained Compute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ATHI .</cp:lastModifiedBy>
  <cp:revision>1</cp:revision>
  <dcterms:created xsi:type="dcterms:W3CDTF">2013-01-27T09:14:16Z</dcterms:created>
  <dcterms:modified xsi:type="dcterms:W3CDTF">2025-11-17T10:04:39Z</dcterms:modified>
  <cp:category/>
</cp:coreProperties>
</file>