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Garamond" panose="02020404030301010803" pitchFamily="18" charset="0"/>
      <p:regular r:id="rId9"/>
      <p:bold r:id="rId10"/>
      <p:italic r:id="rId11"/>
      <p:boldItalic r:id="rId12"/>
    </p:embeddedFont>
    <p:embeddedFont>
      <p:font typeface="Oswald" panose="00000500000000000000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9" roundtripDataSignature="AMtx7mjUwPiZjtANJ9yzwqgBRXDFBzJN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57C6FF-EB00-4285-BED3-E56ECD2D19C1}" v="127" dt="2025-09-16T19:14:46.7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72" y="4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5393D184-16F5-1DBD-BDA0-E5DD03D842FE}"/>
    <pc:docChg chg="modSld">
      <pc:chgData name="Guest User" userId="" providerId="Windows Live" clId="Web-{5393D184-16F5-1DBD-BDA0-E5DD03D842FE}" dt="2025-09-07T16:03:55.226" v="1" actId="20577"/>
      <pc:docMkLst>
        <pc:docMk/>
      </pc:docMkLst>
      <pc:sldChg chg="modSp">
        <pc:chgData name="Guest User" userId="" providerId="Windows Live" clId="Web-{5393D184-16F5-1DBD-BDA0-E5DD03D842FE}" dt="2025-09-07T16:03:55.226" v="1" actId="20577"/>
        <pc:sldMkLst>
          <pc:docMk/>
          <pc:sldMk cId="0" sldId="256"/>
        </pc:sldMkLst>
        <pc:spChg chg="mod">
          <ac:chgData name="Guest User" userId="" providerId="Windows Live" clId="Web-{5393D184-16F5-1DBD-BDA0-E5DD03D842FE}" dt="2025-09-07T16:03:55.226" v="1" actId="20577"/>
          <ac:spMkLst>
            <pc:docMk/>
            <pc:sldMk cId="0" sldId="256"/>
            <ac:spMk id="93" creationId="{00000000-0000-0000-0000-000000000000}"/>
          </ac:spMkLst>
        </pc:spChg>
      </pc:sldChg>
    </pc:docChg>
  </pc:docChgLst>
  <pc:docChgLst>
    <pc:chgData name="Guest User" providerId="Windows Live" clId="Web-{3DF54D6B-D3DF-7159-0E4C-87B84BFA2878}"/>
    <pc:docChg chg="delSld">
      <pc:chgData name="Guest User" userId="" providerId="Windows Live" clId="Web-{3DF54D6B-D3DF-7159-0E4C-87B84BFA2878}" dt="2025-09-07T15:47:55.528" v="0"/>
      <pc:docMkLst>
        <pc:docMk/>
      </pc:docMkLst>
      <pc:sldChg chg="del">
        <pc:chgData name="Guest User" userId="" providerId="Windows Live" clId="Web-{3DF54D6B-D3DF-7159-0E4C-87B84BFA2878}" dt="2025-09-07T15:47:55.528" v="0"/>
        <pc:sldMkLst>
          <pc:docMk/>
          <pc:sldMk cId="0" sldId="262"/>
        </pc:sldMkLst>
      </pc:sldChg>
    </pc:docChg>
  </pc:docChgLst>
  <pc:docChgLst>
    <pc:chgData name="Guest User" providerId="Windows Live" clId="Web-{A0DF9927-3E3E-2008-8137-8F13E16C82A0}"/>
    <pc:docChg chg="modSld">
      <pc:chgData name="Guest User" userId="" providerId="Windows Live" clId="Web-{A0DF9927-3E3E-2008-8137-8F13E16C82A0}" dt="2025-09-09T11:21:39.254" v="0" actId="14100"/>
      <pc:docMkLst>
        <pc:docMk/>
      </pc:docMkLst>
      <pc:sldChg chg="modSp">
        <pc:chgData name="Guest User" userId="" providerId="Windows Live" clId="Web-{A0DF9927-3E3E-2008-8137-8F13E16C82A0}" dt="2025-09-09T11:21:39.254" v="0" actId="14100"/>
        <pc:sldMkLst>
          <pc:docMk/>
          <pc:sldMk cId="0" sldId="257"/>
        </pc:sldMkLst>
        <pc:spChg chg="mod">
          <ac:chgData name="Guest User" userId="" providerId="Windows Live" clId="Web-{A0DF9927-3E3E-2008-8137-8F13E16C82A0}" dt="2025-09-09T11:21:39.254" v="0" actId="14100"/>
          <ac:spMkLst>
            <pc:docMk/>
            <pc:sldMk cId="0" sldId="257"/>
            <ac:spMk id="102" creationId="{00000000-0000-0000-0000-000000000000}"/>
          </ac:spMkLst>
        </pc:spChg>
      </pc:sldChg>
    </pc:docChg>
  </pc:docChgLst>
  <pc:docChgLst>
    <pc:chgData name="ATHI ." userId="ebcd4abaf1cde84e" providerId="LiveId" clId="{5A62D4A1-E166-47D5-950C-F7A9F72F7C6D}"/>
    <pc:docChg chg="undo redo custSel modSld">
      <pc:chgData name="ATHI ." userId="ebcd4abaf1cde84e" providerId="LiveId" clId="{5A62D4A1-E166-47D5-950C-F7A9F72F7C6D}" dt="2025-09-16T19:14:46.797" v="1144" actId="14100"/>
      <pc:docMkLst>
        <pc:docMk/>
      </pc:docMkLst>
      <pc:sldChg chg="modSp mod">
        <pc:chgData name="ATHI ." userId="ebcd4abaf1cde84e" providerId="LiveId" clId="{5A62D4A1-E166-47D5-950C-F7A9F72F7C6D}" dt="2025-09-16T06:25:02.671" v="1113" actId="122"/>
        <pc:sldMkLst>
          <pc:docMk/>
          <pc:sldMk cId="0" sldId="256"/>
        </pc:sldMkLst>
        <pc:spChg chg="mod">
          <ac:chgData name="ATHI ." userId="ebcd4abaf1cde84e" providerId="LiveId" clId="{5A62D4A1-E166-47D5-950C-F7A9F72F7C6D}" dt="2025-09-16T06:25:02.671" v="1113" actId="122"/>
          <ac:spMkLst>
            <pc:docMk/>
            <pc:sldMk cId="0" sldId="256"/>
            <ac:spMk id="91" creationId="{00000000-0000-0000-0000-000000000000}"/>
          </ac:spMkLst>
        </pc:spChg>
        <pc:spChg chg="mod">
          <ac:chgData name="ATHI ." userId="ebcd4abaf1cde84e" providerId="LiveId" clId="{5A62D4A1-E166-47D5-950C-F7A9F72F7C6D}" dt="2025-09-16T06:23:41.607" v="1084" actId="1076"/>
          <ac:spMkLst>
            <pc:docMk/>
            <pc:sldMk cId="0" sldId="256"/>
            <ac:spMk id="93" creationId="{00000000-0000-0000-0000-000000000000}"/>
          </ac:spMkLst>
        </pc:spChg>
      </pc:sldChg>
      <pc:sldChg chg="addSp delSp modSp mod">
        <pc:chgData name="ATHI ." userId="ebcd4abaf1cde84e" providerId="LiveId" clId="{5A62D4A1-E166-47D5-950C-F7A9F72F7C6D}" dt="2025-09-16T19:14:46.797" v="1144" actId="14100"/>
        <pc:sldMkLst>
          <pc:docMk/>
          <pc:sldMk cId="0" sldId="257"/>
        </pc:sldMkLst>
        <pc:spChg chg="add mod">
          <ac:chgData name="ATHI ." userId="ebcd4abaf1cde84e" providerId="LiveId" clId="{5A62D4A1-E166-47D5-950C-F7A9F72F7C6D}" dt="2025-09-16T06:20:50.725" v="1083" actId="1076"/>
          <ac:spMkLst>
            <pc:docMk/>
            <pc:sldMk cId="0" sldId="257"/>
            <ac:spMk id="2" creationId="{9FBEBAE4-8B38-A447-CADC-D8A072B9DAB9}"/>
          </ac:spMkLst>
        </pc:spChg>
        <pc:spChg chg="add mod ord">
          <ac:chgData name="ATHI ." userId="ebcd4abaf1cde84e" providerId="LiveId" clId="{5A62D4A1-E166-47D5-950C-F7A9F72F7C6D}" dt="2025-09-16T06:18:22.549" v="1067" actId="167"/>
          <ac:spMkLst>
            <pc:docMk/>
            <pc:sldMk cId="0" sldId="257"/>
            <ac:spMk id="3" creationId="{B059BD2A-14E8-E605-090F-5D35CDB5FA86}"/>
          </ac:spMkLst>
        </pc:spChg>
        <pc:spChg chg="add del mod">
          <ac:chgData name="ATHI ." userId="ebcd4abaf1cde84e" providerId="LiveId" clId="{5A62D4A1-E166-47D5-950C-F7A9F72F7C6D}" dt="2025-09-16T19:13:15.391" v="1127" actId="11529"/>
          <ac:spMkLst>
            <pc:docMk/>
            <pc:sldMk cId="0" sldId="257"/>
            <ac:spMk id="4" creationId="{477B5C12-DD72-754B-B0A8-0D3BCF471AEF}"/>
          </ac:spMkLst>
        </pc:spChg>
        <pc:spChg chg="add mod">
          <ac:chgData name="ATHI ." userId="ebcd4abaf1cde84e" providerId="LiveId" clId="{5A62D4A1-E166-47D5-950C-F7A9F72F7C6D}" dt="2025-09-16T19:14:46.797" v="1144" actId="14100"/>
          <ac:spMkLst>
            <pc:docMk/>
            <pc:sldMk cId="0" sldId="257"/>
            <ac:spMk id="5" creationId="{24BDC570-5FFA-2FF5-991A-89D6990425E8}"/>
          </ac:spMkLst>
        </pc:spChg>
        <pc:spChg chg="mod">
          <ac:chgData name="ATHI ." userId="ebcd4abaf1cde84e" providerId="LiveId" clId="{5A62D4A1-E166-47D5-950C-F7A9F72F7C6D}" dt="2025-09-16T19:12:11.066" v="1115" actId="167"/>
          <ac:spMkLst>
            <pc:docMk/>
            <pc:sldMk cId="0" sldId="257"/>
            <ac:spMk id="102" creationId="{00000000-0000-0000-0000-000000000000}"/>
          </ac:spMkLst>
        </pc:spChg>
        <pc:picChg chg="add mod">
          <ac:chgData name="ATHI ." userId="ebcd4abaf1cde84e" providerId="LiveId" clId="{5A62D4A1-E166-47D5-950C-F7A9F72F7C6D}" dt="2025-09-16T19:12:25.769" v="1117" actId="1076"/>
          <ac:picMkLst>
            <pc:docMk/>
            <pc:sldMk cId="0" sldId="257"/>
            <ac:picMk id="1026" creationId="{FCBFF01F-9AE4-1AE6-CDE2-99BA5C237FB3}"/>
          </ac:picMkLst>
        </pc:picChg>
        <pc:picChg chg="add mod">
          <ac:chgData name="ATHI ." userId="ebcd4abaf1cde84e" providerId="LiveId" clId="{5A62D4A1-E166-47D5-950C-F7A9F72F7C6D}" dt="2025-09-16T19:14:46.797" v="1144" actId="14100"/>
          <ac:picMkLst>
            <pc:docMk/>
            <pc:sldMk cId="0" sldId="257"/>
            <ac:picMk id="1028" creationId="{CA86F4C8-3703-789B-9530-FB8EB3698B9E}"/>
          </ac:picMkLst>
        </pc:picChg>
        <pc:picChg chg="add">
          <ac:chgData name="ATHI ." userId="ebcd4abaf1cde84e" providerId="LiveId" clId="{5A62D4A1-E166-47D5-950C-F7A9F72F7C6D}" dt="2025-09-16T19:14:41.401" v="1138"/>
          <ac:picMkLst>
            <pc:docMk/>
            <pc:sldMk cId="0" sldId="257"/>
            <ac:picMk id="1030" creationId="{B6E01FC1-1306-BF26-15CB-F5288DF12F44}"/>
          </ac:picMkLst>
        </pc:picChg>
        <pc:picChg chg="add mod">
          <ac:chgData name="ATHI ." userId="ebcd4abaf1cde84e" providerId="LiveId" clId="{5A62D4A1-E166-47D5-950C-F7A9F72F7C6D}" dt="2025-09-16T19:14:45.481" v="1142"/>
          <ac:picMkLst>
            <pc:docMk/>
            <pc:sldMk cId="0" sldId="257"/>
            <ac:picMk id="1032" creationId="{0F09494B-31DF-4B68-3CCD-56A026E2A0A0}"/>
          </ac:picMkLst>
        </pc:picChg>
        <pc:picChg chg="add mod">
          <ac:chgData name="ATHI ." userId="ebcd4abaf1cde84e" providerId="LiveId" clId="{5A62D4A1-E166-47D5-950C-F7A9F72F7C6D}" dt="2025-09-16T19:14:45.268" v="1141"/>
          <ac:picMkLst>
            <pc:docMk/>
            <pc:sldMk cId="0" sldId="257"/>
            <ac:picMk id="1034" creationId="{0ADD5C12-C674-7EB5-45EC-4B16C7806ADE}"/>
          </ac:picMkLst>
        </pc:picChg>
      </pc:sldChg>
      <pc:sldChg chg="addSp delSp modSp mod">
        <pc:chgData name="ATHI ." userId="ebcd4abaf1cde84e" providerId="LiveId" clId="{5A62D4A1-E166-47D5-950C-F7A9F72F7C6D}" dt="2025-09-07T15:33:21.522" v="786" actId="255"/>
        <pc:sldMkLst>
          <pc:docMk/>
          <pc:sldMk cId="0" sldId="258"/>
        </pc:sldMkLst>
        <pc:graphicFrameChg chg="mod modGraphic">
          <ac:chgData name="ATHI ." userId="ebcd4abaf1cde84e" providerId="LiveId" clId="{5A62D4A1-E166-47D5-950C-F7A9F72F7C6D}" dt="2025-09-07T15:33:21.522" v="786" actId="255"/>
          <ac:graphicFrameMkLst>
            <pc:docMk/>
            <pc:sldMk cId="0" sldId="258"/>
            <ac:graphicFrameMk id="2" creationId="{481ADBE1-4739-80E8-4953-F57CFB9D0461}"/>
          </ac:graphicFrameMkLst>
        </pc:graphicFrameChg>
        <pc:cxnChg chg="mod">
          <ac:chgData name="ATHI ." userId="ebcd4abaf1cde84e" providerId="LiveId" clId="{5A62D4A1-E166-47D5-950C-F7A9F72F7C6D}" dt="2025-09-07T15:13:49.504" v="175" actId="1076"/>
          <ac:cxnSpMkLst>
            <pc:docMk/>
            <pc:sldMk cId="0" sldId="258"/>
            <ac:cxnSpMk id="35" creationId="{81C550F2-C9A6-1797-6A41-F1BB5CBFB702}"/>
          </ac:cxnSpMkLst>
        </pc:cxnChg>
      </pc:sldChg>
      <pc:sldChg chg="modSp mod">
        <pc:chgData name="ATHI ." userId="ebcd4abaf1cde84e" providerId="LiveId" clId="{5A62D4A1-E166-47D5-950C-F7A9F72F7C6D}" dt="2025-09-07T15:23:02.578" v="523" actId="20577"/>
        <pc:sldMkLst>
          <pc:docMk/>
          <pc:sldMk cId="0" sldId="259"/>
        </pc:sldMkLst>
        <pc:graphicFrameChg chg="mod modGraphic">
          <ac:chgData name="ATHI ." userId="ebcd4abaf1cde84e" providerId="LiveId" clId="{5A62D4A1-E166-47D5-950C-F7A9F72F7C6D}" dt="2025-09-07T15:23:02.578" v="523" actId="20577"/>
          <ac:graphicFrameMkLst>
            <pc:docMk/>
            <pc:sldMk cId="0" sldId="259"/>
            <ac:graphicFrameMk id="7" creationId="{A6736E7F-9FC9-5C21-FB17-FD149B3E308E}"/>
          </ac:graphicFrameMkLst>
        </pc:graphicFrameChg>
      </pc:sldChg>
      <pc:sldChg chg="addSp delSp modSp mod">
        <pc:chgData name="ATHI ." userId="ebcd4abaf1cde84e" providerId="LiveId" clId="{5A62D4A1-E166-47D5-950C-F7A9F72F7C6D}" dt="2025-09-16T06:20:32.613" v="1081" actId="20577"/>
        <pc:sldMkLst>
          <pc:docMk/>
          <pc:sldMk cId="0" sldId="260"/>
        </pc:sldMkLst>
        <pc:spChg chg="add del mod">
          <ac:chgData name="ATHI ." userId="ebcd4abaf1cde84e" providerId="LiveId" clId="{5A62D4A1-E166-47D5-950C-F7A9F72F7C6D}" dt="2025-09-07T15:42:53.465" v="855" actId="14100"/>
          <ac:spMkLst>
            <pc:docMk/>
            <pc:sldMk cId="0" sldId="260"/>
            <ac:spMk id="8" creationId="{FFA90E24-73D0-BFD4-5755-E36B476718D7}"/>
          </ac:spMkLst>
        </pc:spChg>
        <pc:spChg chg="mod">
          <ac:chgData name="ATHI ." userId="ebcd4abaf1cde84e" providerId="LiveId" clId="{5A62D4A1-E166-47D5-950C-F7A9F72F7C6D}" dt="2025-09-07T15:40:48.797" v="837" actId="1076"/>
          <ac:spMkLst>
            <pc:docMk/>
            <pc:sldMk cId="0" sldId="260"/>
            <ac:spMk id="137" creationId="{00000000-0000-0000-0000-000000000000}"/>
          </ac:spMkLst>
        </pc:spChg>
        <pc:graphicFrameChg chg="add mod modGraphic">
          <ac:chgData name="ATHI ." userId="ebcd4abaf1cde84e" providerId="LiveId" clId="{5A62D4A1-E166-47D5-950C-F7A9F72F7C6D}" dt="2025-09-16T06:20:32.613" v="1081" actId="20577"/>
          <ac:graphicFrameMkLst>
            <pc:docMk/>
            <pc:sldMk cId="0" sldId="260"/>
            <ac:graphicFrameMk id="2" creationId="{E09C7EBD-1253-C045-FE73-81CE1DDB316A}"/>
          </ac:graphicFrameMkLst>
        </pc:graphicFrameChg>
        <pc:picChg chg="add mod">
          <ac:chgData name="ATHI ." userId="ebcd4abaf1cde84e" providerId="LiveId" clId="{5A62D4A1-E166-47D5-950C-F7A9F72F7C6D}" dt="2025-09-07T15:44:26.515" v="868" actId="14100"/>
          <ac:picMkLst>
            <pc:docMk/>
            <pc:sldMk cId="0" sldId="260"/>
            <ac:picMk id="1028" creationId="{EF083C52-F6A7-4C8B-C6CF-E2C725BD978F}"/>
          </ac:picMkLst>
        </pc:picChg>
        <pc:cxnChg chg="add mod">
          <ac:chgData name="ATHI ." userId="ebcd4abaf1cde84e" providerId="LiveId" clId="{5A62D4A1-E166-47D5-950C-F7A9F72F7C6D}" dt="2025-09-07T15:35:22.569" v="798" actId="14100"/>
          <ac:cxnSpMkLst>
            <pc:docMk/>
            <pc:sldMk cId="0" sldId="260"/>
            <ac:cxnSpMk id="5" creationId="{D1E8E776-FE96-06A5-27C3-910208AC0F50}"/>
          </ac:cxnSpMkLst>
        </pc:cxnChg>
      </pc:sldChg>
      <pc:sldChg chg="modSp mod">
        <pc:chgData name="ATHI ." userId="ebcd4abaf1cde84e" providerId="LiveId" clId="{5A62D4A1-E166-47D5-950C-F7A9F72F7C6D}" dt="2025-09-07T15:45:10.181" v="885" actId="20577"/>
        <pc:sldMkLst>
          <pc:docMk/>
          <pc:sldMk cId="0" sldId="261"/>
        </pc:sldMkLst>
        <pc:spChg chg="mod">
          <ac:chgData name="ATHI ." userId="ebcd4abaf1cde84e" providerId="LiveId" clId="{5A62D4A1-E166-47D5-950C-F7A9F72F7C6D}" dt="2025-09-07T15:45:10.181" v="885" actId="20577"/>
          <ac:spMkLst>
            <pc:docMk/>
            <pc:sldMk cId="0" sldId="261"/>
            <ac:spMk id="3" creationId="{54B22997-9F92-B157-F5CB-6E9BD6B91B1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553395" y="1566858"/>
            <a:ext cx="4638605" cy="5154967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8846977" y="2627986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232104" y="437693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>
              <a:buClr>
                <a:schemeClr val="dk1"/>
              </a:buClr>
            </a:pPr>
            <a:r>
              <a:rPr lang="en-IN" dirty="0"/>
              <a:t>🔗 </a:t>
            </a:r>
            <a:r>
              <a:rPr lang="en-US" dirty="0"/>
              <a:t>Blockchain-Based Blue Carbon Registry and MRV    	System   </a:t>
            </a:r>
            <a:r>
              <a:rPr lang="en-IN" b="1" dirty="0"/>
              <a:t>🌱</a:t>
            </a:r>
          </a:p>
          <a:p>
            <a:pPr marL="0" lvl="0" indent="0">
              <a:buClr>
                <a:schemeClr val="dk1"/>
              </a:buClr>
            </a:pPr>
            <a:r>
              <a:rPr lang="en-US" sz="1800" dirty="0"/>
              <a:t>     “Transparent Blue Carbon Credit System powered by Blockchain + IoT”</a:t>
            </a:r>
            <a:endParaRPr sz="1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2025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31286" y="2514143"/>
            <a:ext cx="8149523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     Problem Statement ID     </a:t>
            </a:r>
            <a:r>
              <a:rPr lang="en-US" altLang="en-US" sz="1800" dirty="0">
                <a:solidFill>
                  <a:schemeClr val="tx1"/>
                </a:solidFill>
              </a:rPr>
              <a:t> –   25038.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     Problem Statement Title</a:t>
            </a:r>
            <a:r>
              <a:rPr lang="en-US" altLang="en-US" sz="1800" dirty="0">
                <a:solidFill>
                  <a:schemeClr val="tx1"/>
                </a:solidFill>
              </a:rPr>
              <a:t>  –   Blockchain-Based Blue Carbon Registry and          			           MRV System.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    Theme                                 </a:t>
            </a:r>
            <a:r>
              <a:rPr lang="en-US" altLang="en-US" sz="1800" dirty="0">
                <a:solidFill>
                  <a:schemeClr val="tx1"/>
                </a:solidFill>
              </a:rPr>
              <a:t>–  </a:t>
            </a:r>
            <a:r>
              <a:rPr lang="en-IN" sz="1800" dirty="0"/>
              <a:t>Clean &amp; Green Technology</a:t>
            </a:r>
            <a:r>
              <a:rPr lang="en-US" altLang="en-US" sz="1800" dirty="0">
                <a:solidFill>
                  <a:schemeClr val="tx1"/>
                </a:solidFill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</a:rPr>
              <a:t>    PS Category</a:t>
            </a:r>
            <a:r>
              <a:rPr lang="en-US" altLang="en-US" sz="1800" dirty="0">
                <a:solidFill>
                  <a:schemeClr val="tx1"/>
                </a:solidFill>
              </a:rPr>
              <a:t>                       –   Software.</a:t>
            </a:r>
          </a:p>
          <a:p>
            <a:pPr marL="285750" lvl="1" indent="-285750" algn="just">
              <a:lnSpc>
                <a:spcPct val="200000"/>
              </a:lnSpc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1800" b="1" dirty="0"/>
              <a:t>Team Name                        </a:t>
            </a:r>
            <a:r>
              <a:rPr lang="en-IN" sz="1800" dirty="0"/>
              <a:t> –   HEXA VISION</a:t>
            </a:r>
            <a:endParaRPr lang="en-IN" sz="1800" b="1" dirty="0"/>
          </a:p>
        </p:txBody>
      </p:sp>
      <p:pic>
        <p:nvPicPr>
          <p:cNvPr id="94" name="Google Shape;94;p1" descr="https://www.sih.gov.in/img1/SIH-Logo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41366" y="6297"/>
            <a:ext cx="2209120" cy="1122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B059BD2A-14E8-E605-090F-5D35CDB5FA86}"/>
              </a:ext>
            </a:extLst>
          </p:cNvPr>
          <p:cNvSpPr/>
          <p:nvPr/>
        </p:nvSpPr>
        <p:spPr>
          <a:xfrm>
            <a:off x="7852200" y="3053009"/>
            <a:ext cx="4079631" cy="3165231"/>
          </a:xfrm>
          <a:prstGeom prst="flowChartAlternateProces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1393370" y="-221302"/>
            <a:ext cx="8259736" cy="1122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b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dirty="0"/>
              <a:t>Blockchain-Based Blue Carbon Registry &amp; MRV Platform</a:t>
            </a:r>
            <a:endParaRPr lang="en-IN" sz="2800" dirty="0"/>
          </a:p>
        </p:txBody>
      </p:sp>
      <p:sp>
        <p:nvSpPr>
          <p:cNvPr id="102" name="Google Shape;102;p2"/>
          <p:cNvSpPr txBox="1"/>
          <p:nvPr/>
        </p:nvSpPr>
        <p:spPr>
          <a:xfrm>
            <a:off x="0" y="755177"/>
            <a:ext cx="12193223" cy="5796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IN" sz="2400" dirty="0"/>
              <a:t> </a:t>
            </a:r>
            <a:r>
              <a:rPr lang="en-IN" sz="2400" b="1" dirty="0">
                <a:solidFill>
                  <a:schemeClr val="bg2"/>
                </a:solidFill>
              </a:rPr>
              <a:t>Problems :</a:t>
            </a:r>
            <a:endParaRPr lang="en-US" sz="2400" b="1" u="sng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15900">
              <a:buClr>
                <a:schemeClr val="dk1"/>
              </a:buClr>
              <a:buSzPts val="2000"/>
            </a:pPr>
            <a:r>
              <a:rPr lang="en-US" sz="1600" b="1" dirty="0"/>
              <a:t>    </a:t>
            </a:r>
            <a:r>
              <a:rPr lang="en-US" sz="1800" b="1" dirty="0"/>
              <a:t>⚠️ Lack of transparency     </a:t>
            </a:r>
            <a:r>
              <a:rPr lang="en-US" sz="1800" dirty="0"/>
              <a:t>         –   in carbon credit tracking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br>
              <a:rPr lang="en-US" sz="1800" dirty="0"/>
            </a:br>
            <a:r>
              <a:rPr lang="en-US" sz="1800" b="1" dirty="0"/>
              <a:t>⏳ Slow verification</a:t>
            </a:r>
            <a:r>
              <a:rPr lang="en-US" sz="1800" dirty="0"/>
              <a:t>           	    –   for blue carbon projects  (mangroves , seagrass , salt marshes)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br>
              <a:rPr lang="en-US" sz="1800" dirty="0"/>
            </a:br>
            <a:r>
              <a:rPr lang="en-US" sz="1800" b="1" dirty="0"/>
              <a:t>🌱 Difficult for authorities	</a:t>
            </a:r>
            <a:r>
              <a:rPr lang="en-US" sz="1800" dirty="0"/>
              <a:t>    –   to authenticate local initiatives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endParaRPr lang="en-US" sz="2000" dirty="0"/>
          </a:p>
          <a:p>
            <a:pPr marL="342900" lvl="0" indent="-215900">
              <a:buClr>
                <a:schemeClr val="dk1"/>
              </a:buClr>
              <a:buSzPts val="2000"/>
            </a:pPr>
            <a:r>
              <a:rPr lang="en-IN" sz="3200" dirty="0">
                <a:solidFill>
                  <a:schemeClr val="bg2"/>
                </a:solidFill>
              </a:rPr>
              <a:t>❖</a:t>
            </a:r>
            <a:r>
              <a:rPr lang="en-US" sz="2000" dirty="0"/>
              <a:t> </a:t>
            </a:r>
            <a:r>
              <a:rPr lang="en-IN" sz="2400" b="1" dirty="0">
                <a:solidFill>
                  <a:schemeClr val="bg2"/>
                </a:solidFill>
              </a:rPr>
              <a:t>Proposed Solution / Idea :</a:t>
            </a:r>
          </a:p>
          <a:p>
            <a:pPr marL="342900" lvl="0" indent="-215900">
              <a:buClr>
                <a:schemeClr val="dk1"/>
              </a:buClr>
              <a:buSzPts val="2000"/>
            </a:pPr>
            <a:endParaRPr lang="en-US" sz="2000" b="1" dirty="0">
              <a:solidFill>
                <a:schemeClr val="bg2"/>
              </a:solidFill>
            </a:endParaRPr>
          </a:p>
          <a:p>
            <a:pPr lvl="0">
              <a:buClr>
                <a:schemeClr val="dk1"/>
              </a:buClr>
              <a:buSzPts val="2800"/>
            </a:pPr>
            <a:r>
              <a:rPr lang="en-IN" sz="1800" b="1" dirty="0"/>
              <a:t>    🔗Blockchain platform</a:t>
            </a:r>
            <a:r>
              <a:rPr lang="en-IN" sz="1800" dirty="0"/>
              <a:t>                  –   for blue carbon credit tracking</a:t>
            </a:r>
          </a:p>
          <a:p>
            <a:pPr lvl="0">
              <a:buClr>
                <a:schemeClr val="dk1"/>
              </a:buClr>
              <a:buSzPts val="2800"/>
            </a:pP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🤖Smart contracts 		    </a:t>
            </a:r>
            <a:r>
              <a:rPr lang="en-IN" sz="1800" dirty="0"/>
              <a:t>–   Automatic tokenization</a:t>
            </a:r>
          </a:p>
          <a:p>
            <a:pPr lvl="0">
              <a:buClr>
                <a:schemeClr val="dk1"/>
              </a:buClr>
              <a:buSzPts val="2800"/>
            </a:pP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📱Mobile app + Drones + IoT</a:t>
            </a:r>
            <a:r>
              <a:rPr lang="en-IN" sz="1800" dirty="0"/>
              <a:t>        –   real-time data capture</a:t>
            </a:r>
          </a:p>
          <a:p>
            <a:pPr lvl="0">
              <a:buClr>
                <a:schemeClr val="dk1"/>
              </a:buClr>
              <a:buSzPts val="2800"/>
            </a:pP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b="1" dirty="0"/>
              <a:t>📊 Admin dashboard             </a:t>
            </a:r>
            <a:r>
              <a:rPr lang="en-IN" sz="1800" dirty="0"/>
              <a:t>        –   for authority verification</a:t>
            </a:r>
          </a:p>
          <a:p>
            <a:pPr lvl="0">
              <a:buClr>
                <a:schemeClr val="dk1"/>
              </a:buClr>
              <a:buSzPts val="2800"/>
            </a:pPr>
            <a:endParaRPr lang="en-IN" sz="2000" dirty="0"/>
          </a:p>
          <a:p>
            <a:pPr marL="342900" lvl="0" indent="-215900">
              <a:buClr>
                <a:schemeClr val="dk1"/>
              </a:buClr>
              <a:buSzPts val="2000"/>
            </a:pPr>
            <a:endParaRPr lang="en-IN" sz="2000" u="sng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>
                <a:solidFill>
                  <a:schemeClr val="lt1"/>
                </a:solidFill>
              </a:rPr>
              <a:t>@SIH Idea submission- Template</a:t>
            </a:r>
          </a:p>
        </p:txBody>
      </p:sp>
      <p:sp>
        <p:nvSpPr>
          <p:cNvPr id="105" name="Google Shape;105;p2" descr="Your startup LOGO"/>
          <p:cNvSpPr/>
          <p:nvPr/>
        </p:nvSpPr>
        <p:spPr>
          <a:xfrm>
            <a:off x="141513" y="130794"/>
            <a:ext cx="1251857" cy="61278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8932" y="43628"/>
            <a:ext cx="1881554" cy="92246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BEBAE4-8B38-A447-CADC-D8A072B9DAB9}"/>
              </a:ext>
            </a:extLst>
          </p:cNvPr>
          <p:cNvSpPr txBox="1"/>
          <p:nvPr/>
        </p:nvSpPr>
        <p:spPr>
          <a:xfrm>
            <a:off x="7506954" y="3244406"/>
            <a:ext cx="468504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/>
              <a:t> </a:t>
            </a:r>
            <a:r>
              <a:rPr lang="en-IN" sz="1800" b="1" u="sng" dirty="0" err="1"/>
              <a:t>Center</a:t>
            </a:r>
            <a:r>
              <a:rPr lang="en-IN" sz="1800" b="1" u="sng" dirty="0"/>
              <a:t> Visual Flow  Diagram :</a:t>
            </a:r>
          </a:p>
          <a:p>
            <a:pPr algn="ctr"/>
            <a:endParaRPr lang="en-IN" sz="2000" b="1" dirty="0"/>
          </a:p>
          <a:p>
            <a:pPr algn="ctr"/>
            <a:r>
              <a:rPr lang="en-IN" sz="1800" b="1" dirty="0"/>
              <a:t>🌐 Drone/IoT  </a:t>
            </a:r>
          </a:p>
          <a:p>
            <a:pPr algn="ctr"/>
            <a:r>
              <a:rPr lang="en-IN" sz="1800" b="1" dirty="0"/>
              <a:t>      ↓  </a:t>
            </a:r>
          </a:p>
          <a:p>
            <a:pPr algn="ctr"/>
            <a:r>
              <a:rPr lang="en-IN" sz="1800" b="1" dirty="0"/>
              <a:t>🔗 Blockchain  </a:t>
            </a:r>
          </a:p>
          <a:p>
            <a:pPr algn="ctr"/>
            <a:r>
              <a:rPr lang="en-IN" sz="1800" b="1" dirty="0"/>
              <a:t>      ↓  </a:t>
            </a:r>
          </a:p>
          <a:p>
            <a:pPr algn="ctr"/>
            <a:r>
              <a:rPr lang="en-IN" sz="1800" b="1" dirty="0"/>
              <a:t>📊 Dashboard  </a:t>
            </a:r>
          </a:p>
          <a:p>
            <a:pPr algn="ctr"/>
            <a:r>
              <a:rPr lang="en-IN" sz="1800" b="1" dirty="0"/>
              <a:t>      ↓  </a:t>
            </a:r>
          </a:p>
          <a:p>
            <a:pPr algn="ctr"/>
            <a:r>
              <a:rPr lang="en-IN" sz="1800" b="1" dirty="0"/>
              <a:t>💳 Carbon Credits</a:t>
            </a:r>
          </a:p>
          <a:p>
            <a:endParaRPr lang="en-IN" sz="2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BDC570-5FFA-2FF5-991A-89D6990425E8}"/>
              </a:ext>
            </a:extLst>
          </p:cNvPr>
          <p:cNvSpPr/>
          <p:nvPr/>
        </p:nvSpPr>
        <p:spPr>
          <a:xfrm>
            <a:off x="-10887" y="-21606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A86F4C8-3703-789B-9530-FB8EB3698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13" y="130794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title"/>
          </p:nvPr>
        </p:nvSpPr>
        <p:spPr>
          <a:xfrm>
            <a:off x="609600" y="2857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30144" y="1691212"/>
            <a:ext cx="12192000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sz="2800" b="1"/>
              <a:t>		 :</a:t>
            </a:r>
            <a:r>
              <a:rPr lang="en-IN" sz="2800"/>
              <a:t> Drones + Sensors</a:t>
            </a:r>
          </a:p>
          <a:p>
            <a:pPr lvl="0" algn="just">
              <a:buClr>
                <a:schemeClr val="dk1"/>
              </a:buClr>
              <a:buSzPts val="2800"/>
            </a:pPr>
            <a:endParaRPr sz="2800"/>
          </a:p>
        </p:txBody>
      </p:sp>
      <p:sp>
        <p:nvSpPr>
          <p:cNvPr id="115" name="Google Shape;115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7" name="Google Shape;117;p3" descr="Your startup LOGO"/>
          <p:cNvSpPr/>
          <p:nvPr/>
        </p:nvSpPr>
        <p:spPr>
          <a:xfrm>
            <a:off x="141514" y="136165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endParaRPr lang="en-US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lvl="0" algn="ctr"/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3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57097"/>
            <a:ext cx="2209120" cy="11228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1ADBE1-4739-80E8-4953-F57CFB9D0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226537"/>
              </p:ext>
            </p:extLst>
          </p:nvPr>
        </p:nvGraphicFramePr>
        <p:xfrm>
          <a:off x="90432" y="1405745"/>
          <a:ext cx="12011136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5568">
                  <a:extLst>
                    <a:ext uri="{9D8B030D-6E8A-4147-A177-3AD203B41FA5}">
                      <a16:colId xmlns:a16="http://schemas.microsoft.com/office/drawing/2014/main" val="3687894678"/>
                    </a:ext>
                  </a:extLst>
                </a:gridCol>
                <a:gridCol w="6005568">
                  <a:extLst>
                    <a:ext uri="{9D8B030D-6E8A-4147-A177-3AD203B41FA5}">
                      <a16:colId xmlns:a16="http://schemas.microsoft.com/office/drawing/2014/main" val="2112015998"/>
                    </a:ext>
                  </a:extLst>
                </a:gridCol>
              </a:tblGrid>
              <a:tr h="3700426">
                <a:tc>
                  <a:txBody>
                    <a:bodyPr/>
                    <a:lstStyle/>
                    <a:p>
                      <a:pPr lvl="1"/>
                      <a:r>
                        <a:rPr lang="en-IN" sz="2200" b="1"/>
                        <a:t>TECHNOLOGIES</a:t>
                      </a:r>
                      <a:r>
                        <a:rPr lang="en-IN" sz="2800" b="1"/>
                        <a:t> :</a:t>
                      </a:r>
                      <a:endParaRPr lang="en-IN" sz="2800"/>
                    </a:p>
                    <a:p>
                      <a:pPr lvl="1"/>
                      <a:endParaRPr lang="en-IN" sz="2400" b="1"/>
                    </a:p>
                    <a:p>
                      <a:pPr lvl="1"/>
                      <a:r>
                        <a:rPr lang="en-IN" sz="2400" b="1"/>
                        <a:t>Blockchain          :</a:t>
                      </a:r>
                      <a:r>
                        <a:rPr lang="en-IN" sz="2400"/>
                        <a:t> Hyperledger /</a:t>
                      </a:r>
                    </a:p>
                    <a:p>
                      <a:pPr lvl="1"/>
                      <a:r>
                        <a:rPr lang="en-IN" sz="2400"/>
                        <a:t>                                Ethereum.                                            </a:t>
                      </a:r>
                    </a:p>
                    <a:p>
                      <a:pPr lvl="1"/>
                      <a:endParaRPr lang="en-IN" sz="2400"/>
                    </a:p>
                    <a:p>
                      <a:pPr lvl="1"/>
                      <a:r>
                        <a:rPr lang="en-IN" sz="2400" b="1"/>
                        <a:t>Smart Contracts :</a:t>
                      </a:r>
                      <a:r>
                        <a:rPr lang="en-IN" sz="2400"/>
                        <a:t> Solidity</a:t>
                      </a:r>
                    </a:p>
                    <a:p>
                      <a:pPr lvl="1"/>
                      <a:endParaRPr lang="en-IN" sz="2400"/>
                    </a:p>
                    <a:p>
                      <a:pPr lvl="1"/>
                      <a:r>
                        <a:rPr lang="en-IN" sz="2400" b="1"/>
                        <a:t>Mobile App	        :</a:t>
                      </a:r>
                      <a:r>
                        <a:rPr lang="en-IN" sz="2400"/>
                        <a:t> Flutter / React Native</a:t>
                      </a:r>
                    </a:p>
                    <a:p>
                      <a:pPr lvl="1"/>
                      <a:endParaRPr lang="en-IN" sz="2400"/>
                    </a:p>
                    <a:p>
                      <a:pPr lvl="1"/>
                      <a:r>
                        <a:rPr lang="en-IN" sz="2400" b="1"/>
                        <a:t>Dashboard 	        :</a:t>
                      </a:r>
                      <a:r>
                        <a:rPr lang="en-IN" sz="2400"/>
                        <a:t> React + Node.js</a:t>
                      </a:r>
                    </a:p>
                    <a:p>
                      <a:pPr lvl="1"/>
                      <a:endParaRPr lang="en-IN" sz="2400"/>
                    </a:p>
                    <a:p>
                      <a:pPr lvl="1"/>
                      <a:r>
                        <a:rPr lang="en-IN" sz="2400" b="1"/>
                        <a:t>Cloud DB             :</a:t>
                      </a:r>
                      <a:r>
                        <a:rPr lang="en-IN" sz="2400"/>
                        <a:t> AWS / Azure </a:t>
                      </a:r>
                      <a:r>
                        <a:rPr lang="en-IN" sz="2400" b="1"/>
                        <a:t>IoT</a:t>
                      </a:r>
                      <a:r>
                        <a:rPr lang="en-IN" sz="2800" b="1"/>
                        <a:t>	  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1"/>
                        <a:t>METHODOLOGY FLOW </a:t>
                      </a:r>
                      <a:r>
                        <a:rPr lang="en-IN" sz="2000" b="1"/>
                        <a:t> </a:t>
                      </a:r>
                      <a:r>
                        <a:rPr lang="en-IN" sz="2400" b="1"/>
                        <a:t>:</a:t>
                      </a:r>
                    </a:p>
                    <a:p>
                      <a:endParaRPr lang="en-IN" sz="2400" b="1"/>
                    </a:p>
                    <a:p>
                      <a:r>
                        <a:rPr lang="en-IN" sz="2400" b="1"/>
                        <a:t> Data Capture</a:t>
                      </a:r>
                    </a:p>
                    <a:p>
                      <a:r>
                        <a:rPr lang="en-IN" sz="2400" b="1"/>
                        <a:t> </a:t>
                      </a:r>
                    </a:p>
                    <a:p>
                      <a:r>
                        <a:rPr lang="en-IN" sz="2400" b="1"/>
                        <a:t>                    Smart Contract Validation </a:t>
                      </a:r>
                    </a:p>
                    <a:p>
                      <a:r>
                        <a:rPr lang="en-IN" sz="2400" b="1"/>
                        <a:t> </a:t>
                      </a:r>
                    </a:p>
                    <a:p>
                      <a:r>
                        <a:rPr lang="en-IN" sz="2400" b="1"/>
                        <a:t> Token Generation</a:t>
                      </a:r>
                    </a:p>
                    <a:p>
                      <a:r>
                        <a:rPr lang="en-IN" sz="2400" b="1"/>
                        <a:t> </a:t>
                      </a:r>
                    </a:p>
                    <a:p>
                      <a:r>
                        <a:rPr lang="en-IN" sz="2400" b="1"/>
                        <a:t>                     Authority Verification</a:t>
                      </a:r>
                    </a:p>
                    <a:p>
                      <a:endParaRPr lang="en-IN" sz="2400" b="1"/>
                    </a:p>
                    <a:p>
                      <a:r>
                        <a:rPr lang="en-IN" sz="2400" b="1"/>
                        <a:t> Carbon Credit Issuance</a:t>
                      </a:r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619277"/>
                  </a:ext>
                </a:extLst>
              </a:tr>
            </a:tbl>
          </a:graphicData>
        </a:graphic>
      </p:graphicFrame>
      <p:sp>
        <p:nvSpPr>
          <p:cNvPr id="21" name="Arrow: Bent 20">
            <a:extLst>
              <a:ext uri="{FF2B5EF4-FFF2-40B4-BE49-F238E27FC236}">
                <a16:creationId xmlns:a16="http://schemas.microsoft.com/office/drawing/2014/main" id="{B41408E2-6734-D7A6-2FBB-42422D894DF5}"/>
              </a:ext>
            </a:extLst>
          </p:cNvPr>
          <p:cNvSpPr/>
          <p:nvPr/>
        </p:nvSpPr>
        <p:spPr>
          <a:xfrm rot="5400000">
            <a:off x="8575289" y="2075382"/>
            <a:ext cx="489240" cy="787078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504B6285-F4B0-A0BC-439E-556CC6985F98}"/>
              </a:ext>
            </a:extLst>
          </p:cNvPr>
          <p:cNvSpPr/>
          <p:nvPr/>
        </p:nvSpPr>
        <p:spPr>
          <a:xfrm rot="5400000" flipV="1">
            <a:off x="6927447" y="2864288"/>
            <a:ext cx="489240" cy="731963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ABA1B2EF-A644-2AEF-7454-07EB49B2571D}"/>
              </a:ext>
            </a:extLst>
          </p:cNvPr>
          <p:cNvSpPr/>
          <p:nvPr/>
        </p:nvSpPr>
        <p:spPr>
          <a:xfrm rot="5400000">
            <a:off x="9204085" y="3634246"/>
            <a:ext cx="489240" cy="717607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Arrow: Bent 26">
            <a:extLst>
              <a:ext uri="{FF2B5EF4-FFF2-40B4-BE49-F238E27FC236}">
                <a16:creationId xmlns:a16="http://schemas.microsoft.com/office/drawing/2014/main" id="{8959327C-9420-61B6-1790-D4AD77CE058E}"/>
              </a:ext>
            </a:extLst>
          </p:cNvPr>
          <p:cNvSpPr/>
          <p:nvPr/>
        </p:nvSpPr>
        <p:spPr>
          <a:xfrm rot="5400000" flipV="1">
            <a:off x="6979680" y="4276560"/>
            <a:ext cx="477033" cy="731963"/>
          </a:xfrm>
          <a:prstGeom prst="bentArrow">
            <a:avLst>
              <a:gd name="adj1" fmla="val 20578"/>
              <a:gd name="adj2" fmla="val 25000"/>
              <a:gd name="adj3" fmla="val 25000"/>
              <a:gd name="adj4" fmla="val 40947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BF01B8-66D3-D469-C884-0BBE4BAD4681}"/>
              </a:ext>
            </a:extLst>
          </p:cNvPr>
          <p:cNvSpPr/>
          <p:nvPr/>
        </p:nvSpPr>
        <p:spPr>
          <a:xfrm>
            <a:off x="6250200" y="2168245"/>
            <a:ext cx="1921527" cy="477034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823D208-F098-5D14-D2DD-360A663D6090}"/>
              </a:ext>
            </a:extLst>
          </p:cNvPr>
          <p:cNvSpPr/>
          <p:nvPr/>
        </p:nvSpPr>
        <p:spPr>
          <a:xfrm>
            <a:off x="7714808" y="2885700"/>
            <a:ext cx="3975622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6A89A85-71AE-CC81-6DA0-364B8E2901E6}"/>
              </a:ext>
            </a:extLst>
          </p:cNvPr>
          <p:cNvSpPr/>
          <p:nvPr/>
        </p:nvSpPr>
        <p:spPr>
          <a:xfrm>
            <a:off x="6195404" y="2145702"/>
            <a:ext cx="2045583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726526D-19C4-4C6D-7723-A73C1D63C1AD}"/>
              </a:ext>
            </a:extLst>
          </p:cNvPr>
          <p:cNvSpPr/>
          <p:nvPr/>
        </p:nvSpPr>
        <p:spPr>
          <a:xfrm>
            <a:off x="6195404" y="3562118"/>
            <a:ext cx="2685289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32B37A4-EB38-B028-7160-1036C7D87423}"/>
              </a:ext>
            </a:extLst>
          </p:cNvPr>
          <p:cNvSpPr/>
          <p:nvPr/>
        </p:nvSpPr>
        <p:spPr>
          <a:xfrm>
            <a:off x="7797290" y="4354754"/>
            <a:ext cx="3302832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4580B66-6A08-FC29-2897-6EF32265B139}"/>
              </a:ext>
            </a:extLst>
          </p:cNvPr>
          <p:cNvSpPr/>
          <p:nvPr/>
        </p:nvSpPr>
        <p:spPr>
          <a:xfrm>
            <a:off x="6195404" y="5055517"/>
            <a:ext cx="3585500" cy="477034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C550F2-C9A6-1797-6A41-F1BB5CBFB702}"/>
              </a:ext>
            </a:extLst>
          </p:cNvPr>
          <p:cNvCxnSpPr/>
          <p:nvPr/>
        </p:nvCxnSpPr>
        <p:spPr>
          <a:xfrm>
            <a:off x="0" y="1956121"/>
            <a:ext cx="121015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509116" y="30702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4" descr="Your startup LOGO"/>
          <p:cNvSpPr/>
          <p:nvPr/>
        </p:nvSpPr>
        <p:spPr>
          <a:xfrm>
            <a:off x="141514" y="214864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4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11704" y="40768"/>
            <a:ext cx="2209120" cy="11228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736E7F-9FC9-5C21-FB17-FD149B3E3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844595"/>
              </p:ext>
            </p:extLst>
          </p:nvPr>
        </p:nvGraphicFramePr>
        <p:xfrm>
          <a:off x="141514" y="1357864"/>
          <a:ext cx="11948072" cy="4533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7954">
                  <a:extLst>
                    <a:ext uri="{9D8B030D-6E8A-4147-A177-3AD203B41FA5}">
                      <a16:colId xmlns:a16="http://schemas.microsoft.com/office/drawing/2014/main" val="2111286132"/>
                    </a:ext>
                  </a:extLst>
                </a:gridCol>
                <a:gridCol w="6360118">
                  <a:extLst>
                    <a:ext uri="{9D8B030D-6E8A-4147-A177-3AD203B41FA5}">
                      <a16:colId xmlns:a16="http://schemas.microsoft.com/office/drawing/2014/main" val="3367737538"/>
                    </a:ext>
                  </a:extLst>
                </a:gridCol>
              </a:tblGrid>
              <a:tr h="453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 </a:t>
                      </a: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FEASIBILITY</a:t>
                      </a:r>
                      <a:r>
                        <a:rPr lang="en-US" sz="2400" b="1"/>
                        <a:t>✅ :</a:t>
                      </a:r>
                    </a:p>
                    <a:p>
                      <a:pPr>
                        <a:buNone/>
                      </a:pPr>
                      <a:endParaRPr lang="en-US" sz="240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 Proven tech: Blockchain + IoT.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 Scalable across coastal states.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 Offline data sync.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 Govt partnerships &amp; phased rollout.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240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 Open-source tools to reduce cost.</a:t>
                      </a:r>
                    </a:p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 </a:t>
                      </a:r>
                      <a:r>
                        <a:rPr lang="en-US" sz="24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VIABILITY</a:t>
                      </a:r>
                      <a:r>
                        <a:rPr lang="en-IN" sz="2400" b="1"/>
                        <a:t>🌍 :</a:t>
                      </a:r>
                    </a:p>
                    <a:p>
                      <a:pPr>
                        <a:buNone/>
                      </a:pPr>
                      <a:endParaRPr lang="en-IN" sz="2400"/>
                    </a:p>
                    <a:p>
                      <a:pPr>
                        <a:buNone/>
                      </a:pPr>
                      <a:r>
                        <a:rPr lang="en-US" sz="2400"/>
                        <a:t>🌐 Integrates with national carbon credit </a:t>
                      </a:r>
                    </a:p>
                    <a:p>
                      <a:pPr>
                        <a:buNone/>
                      </a:pPr>
                      <a:r>
                        <a:rPr lang="en-US" sz="2400"/>
                        <a:t>      system.                                          </a:t>
                      </a:r>
                    </a:p>
                    <a:p>
                      <a:pPr>
                        <a:buNone/>
                      </a:pPr>
                      <a:endParaRPr lang="en-US" sz="2400"/>
                    </a:p>
                    <a:p>
                      <a:pPr>
                        <a:buNone/>
                      </a:pPr>
                      <a:r>
                        <a:rPr lang="en-US" sz="2400"/>
                        <a:t>🏭 High industry demand ensures </a:t>
                      </a:r>
                    </a:p>
                    <a:p>
                      <a:pPr>
                        <a:buNone/>
                      </a:pPr>
                      <a:r>
                        <a:rPr lang="en-US" sz="2400"/>
                        <a:t>      adoption.</a:t>
                      </a:r>
                    </a:p>
                    <a:p>
                      <a:pPr>
                        <a:buNone/>
                      </a:pPr>
                      <a:endParaRPr lang="en-US" sz="2400"/>
                    </a:p>
                    <a:p>
                      <a:pPr>
                        <a:buNone/>
                      </a:pPr>
                      <a:r>
                        <a:rPr lang="en-US" sz="2400"/>
                        <a:t>📍 Pilot-ready in coastal states.</a:t>
                      </a:r>
                    </a:p>
                    <a:p>
                      <a:pPr>
                        <a:buNone/>
                      </a:pPr>
                      <a:endParaRPr lang="en-US" sz="2400"/>
                    </a:p>
                    <a:p>
                      <a:pPr>
                        <a:buNone/>
                      </a:pPr>
                      <a:r>
                        <a:rPr lang="en-US" sz="2400"/>
                        <a:t>👥 Low-cost via community monitoring.</a:t>
                      </a:r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35282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02F1-7EB6-540F-94F2-46A799AC149E}"/>
              </a:ext>
            </a:extLst>
          </p:cNvPr>
          <p:cNvCxnSpPr/>
          <p:nvPr/>
        </p:nvCxnSpPr>
        <p:spPr>
          <a:xfrm>
            <a:off x="0" y="1956121"/>
            <a:ext cx="121015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5" descr="Your startup LOGO"/>
          <p:cNvSpPr/>
          <p:nvPr/>
        </p:nvSpPr>
        <p:spPr>
          <a:xfrm>
            <a:off x="141514" y="120208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5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41366" y="0"/>
            <a:ext cx="2209120" cy="112286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9C7EBD-1253-C045-FE73-81CE1DDB3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38777"/>
              </p:ext>
            </p:extLst>
          </p:nvPr>
        </p:nvGraphicFramePr>
        <p:xfrm>
          <a:off x="141515" y="1263207"/>
          <a:ext cx="11826072" cy="4829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6072">
                  <a:extLst>
                    <a:ext uri="{9D8B030D-6E8A-4147-A177-3AD203B41FA5}">
                      <a16:colId xmlns:a16="http://schemas.microsoft.com/office/drawing/2014/main" val="1400126528"/>
                    </a:ext>
                  </a:extLst>
                </a:gridCol>
              </a:tblGrid>
              <a:tr h="4829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1. </a:t>
                      </a:r>
                      <a:r>
                        <a:rPr lang="en-IN" sz="2000" u="sng" dirty="0"/>
                        <a:t>Environmental Benefits </a:t>
                      </a:r>
                      <a:r>
                        <a:rPr lang="en-IN" sz="2000" dirty="0"/>
                        <a:t>🌱: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 Restores mangroves, seagrass &amp; salt marshes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 Boosts carbon sequestration capacity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 Helps meet India’s climate targets</a:t>
                      </a:r>
                    </a:p>
                    <a:p>
                      <a:pPr>
                        <a:buNone/>
                      </a:pPr>
                      <a:endParaRPr lang="en-IN" sz="2000" dirty="0"/>
                    </a:p>
                    <a:p>
                      <a:pPr>
                        <a:buNone/>
                      </a:pPr>
                      <a:r>
                        <a:rPr lang="en-IN" sz="2000" dirty="0"/>
                        <a:t>2. </a:t>
                      </a:r>
                      <a:r>
                        <a:rPr lang="en-IN" sz="2000" u="sng" dirty="0"/>
                        <a:t>Economic Benefits </a:t>
                      </a:r>
                      <a:r>
                        <a:rPr lang="en-IN" sz="2000" dirty="0"/>
                        <a:t>💰: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Generates verified carbon credits for industries 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Attracts green investments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Strengthens carbon trading ecosystem</a:t>
                      </a:r>
                    </a:p>
                    <a:p>
                      <a:pPr>
                        <a:buNone/>
                      </a:pPr>
                      <a:endParaRPr lang="en-IN" sz="2000" dirty="0"/>
                    </a:p>
                    <a:p>
                      <a:pPr>
                        <a:buNone/>
                      </a:pPr>
                      <a:r>
                        <a:rPr lang="en-IN" sz="2000" dirty="0"/>
                        <a:t>3.</a:t>
                      </a:r>
                      <a:r>
                        <a:rPr lang="en-IN" sz="2000" u="sng" dirty="0"/>
                        <a:t>Social Benefits </a:t>
                      </a:r>
                      <a:r>
                        <a:rPr lang="en-IN" sz="2000" dirty="0"/>
                        <a:t>👥: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Creates jobs for coastal communities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Empowers locals via community monitoring</a:t>
                      </a:r>
                    </a:p>
                    <a:p>
                      <a:pPr>
                        <a:buNone/>
                      </a:pPr>
                      <a:r>
                        <a:rPr lang="en-IN" sz="2000" dirty="0"/>
                        <a:t>            Enhances climate awareness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1168832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E8E776-FE96-06A5-27C3-910208AC0F50}"/>
              </a:ext>
            </a:extLst>
          </p:cNvPr>
          <p:cNvCxnSpPr>
            <a:cxnSpLocks/>
          </p:cNvCxnSpPr>
          <p:nvPr/>
        </p:nvCxnSpPr>
        <p:spPr>
          <a:xfrm>
            <a:off x="6983604" y="1249645"/>
            <a:ext cx="0" cy="48296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A90E24-73D0-BFD4-5755-E36B476718D7}"/>
              </a:ext>
            </a:extLst>
          </p:cNvPr>
          <p:cNvSpPr txBox="1"/>
          <p:nvPr/>
        </p:nvSpPr>
        <p:spPr>
          <a:xfrm>
            <a:off x="11371633" y="2553908"/>
            <a:ext cx="2818344" cy="342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/>
          </a:p>
        </p:txBody>
      </p:sp>
      <p:pic>
        <p:nvPicPr>
          <p:cNvPr id="1028" name="Picture 4" descr="Embracing Sustainability-Centric Design: A Path to Eco-Conscious UI/UX">
            <a:extLst>
              <a:ext uri="{FF2B5EF4-FFF2-40B4-BE49-F238E27FC236}">
                <a16:creationId xmlns:a16="http://schemas.microsoft.com/office/drawing/2014/main" id="{EF083C52-F6A7-4C8B-C6CF-E2C725BD9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604" y="1290700"/>
            <a:ext cx="4983977" cy="478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title"/>
          </p:nvPr>
        </p:nvSpPr>
        <p:spPr>
          <a:xfrm>
            <a:off x="320233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51" name="Google Shape;151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6" descr="Your startup LOGO"/>
          <p:cNvSpPr/>
          <p:nvPr/>
        </p:nvSpPr>
        <p:spPr>
          <a:xfrm>
            <a:off x="141514" y="120208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HEXA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 descr="https://www.sih.gov.in/img1/SIH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0000" y="0"/>
            <a:ext cx="1922638" cy="108590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B22997-9F92-B157-F5CB-6E9BD6B91B1E}"/>
              </a:ext>
            </a:extLst>
          </p:cNvPr>
          <p:cNvSpPr txBox="1"/>
          <p:nvPr/>
        </p:nvSpPr>
        <p:spPr>
          <a:xfrm>
            <a:off x="145893" y="1582340"/>
            <a:ext cx="119002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/>
              <a:t>📚 </a:t>
            </a:r>
            <a:r>
              <a:rPr lang="en-IN" sz="2400" b="1"/>
              <a:t>UN Blue Carbon Reports  </a:t>
            </a:r>
            <a:r>
              <a:rPr lang="en-IN" sz="2400"/>
              <a:t>– Global guidelines on coastal ecosystems</a:t>
            </a:r>
          </a:p>
          <a:p>
            <a:br>
              <a:rPr lang="en-IN" sz="2400"/>
            </a:br>
            <a:r>
              <a:rPr lang="en-IN" sz="2400"/>
              <a:t>🌐 </a:t>
            </a:r>
            <a:r>
              <a:rPr lang="en-IN" sz="2400" b="1"/>
              <a:t>Govt of India  – </a:t>
            </a:r>
            <a:r>
              <a:rPr lang="en-IN" sz="2400" b="1" err="1"/>
              <a:t>MoEFCC</a:t>
            </a:r>
            <a:r>
              <a:rPr lang="en-IN" sz="2400" b="1"/>
              <a:t> Guidelines</a:t>
            </a:r>
            <a:r>
              <a:rPr lang="en-IN" sz="2400"/>
              <a:t>  – National framework for carbon credits</a:t>
            </a:r>
          </a:p>
          <a:p>
            <a:br>
              <a:rPr lang="en-IN" sz="2400"/>
            </a:br>
            <a:r>
              <a:rPr lang="en-IN" sz="2400"/>
              <a:t>📄 </a:t>
            </a:r>
            <a:r>
              <a:rPr lang="en-IN" sz="2400" b="1"/>
              <a:t>World Bank    – Blockchain in Carbon Markets</a:t>
            </a:r>
            <a:r>
              <a:rPr lang="en-IN" sz="2400"/>
              <a:t> –  Use of emerging 										   tech for climate action</a:t>
            </a:r>
          </a:p>
          <a:p>
            <a:br>
              <a:rPr lang="en-IN" sz="2400"/>
            </a:br>
            <a:r>
              <a:rPr lang="en-IN" sz="2400"/>
              <a:t>📝 </a:t>
            </a:r>
            <a:r>
              <a:rPr lang="en-IN" sz="2400" b="1"/>
              <a:t>Key Research Papers</a:t>
            </a:r>
            <a:r>
              <a:rPr lang="en-IN" sz="2400"/>
              <a:t> – Blue carbon restoration &amp; verification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525</Words>
  <Application>Microsoft Office PowerPoint</Application>
  <PresentationFormat>Widescreen</PresentationFormat>
  <Paragraphs>128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Oswald</vt:lpstr>
      <vt:lpstr>Noto Sans Symbols</vt:lpstr>
      <vt:lpstr>Times New Roman</vt:lpstr>
      <vt:lpstr>Calibri</vt:lpstr>
      <vt:lpstr>Garamond</vt:lpstr>
      <vt:lpstr>Arial</vt:lpstr>
      <vt:lpstr>Office Theme</vt:lpstr>
      <vt:lpstr>SMART INDIA HACKATHON 2025</vt:lpstr>
      <vt:lpstr> Blockchain-Based Blue Carbon Registry &amp; MRV Platform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ATHI .</cp:lastModifiedBy>
  <cp:revision>2</cp:revision>
  <dcterms:created xsi:type="dcterms:W3CDTF">2013-12-12T18:46:50Z</dcterms:created>
  <dcterms:modified xsi:type="dcterms:W3CDTF">2025-09-16T19:14:53Z</dcterms:modified>
</cp:coreProperties>
</file>